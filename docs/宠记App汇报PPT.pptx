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media/image41.jpg" ContentType="image/jpg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2" r:id="rId7"/>
    <p:sldId id="265" r:id="rId8"/>
    <p:sldId id="266" r:id="rId9"/>
    <p:sldId id="264" r:id="rId10"/>
    <p:sldId id="261" r:id="rId11"/>
    <p:sldId id="263" r:id="rId12"/>
    <p:sldId id="281" r:id="rId13"/>
    <p:sldId id="267" r:id="rId14"/>
    <p:sldId id="268" r:id="rId15"/>
    <p:sldId id="269" r:id="rId16"/>
    <p:sldId id="271" r:id="rId17"/>
    <p:sldId id="282" r:id="rId18"/>
    <p:sldId id="283" r:id="rId19"/>
    <p:sldId id="275" r:id="rId20"/>
    <p:sldId id="276" r:id="rId21"/>
    <p:sldId id="277" r:id="rId22"/>
    <p:sldId id="278" r:id="rId23"/>
    <p:sldId id="279" r:id="rId24"/>
    <p:sldId id="280" r:id="rId2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62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56888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78993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91533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7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4.png"/><Relationship Id="rId4" Type="http://schemas.openxmlformats.org/officeDocument/2006/relationships/image" Target="../media/image10.png"/><Relationship Id="rId9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7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7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9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7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jpg"/><Relationship Id="rId5" Type="http://schemas.openxmlformats.org/officeDocument/2006/relationships/image" Target="../media/image23.jpg"/><Relationship Id="rId4" Type="http://schemas.openxmlformats.org/officeDocument/2006/relationships/image" Target="../media/image22.jp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jpg"/><Relationship Id="rId3" Type="http://schemas.openxmlformats.org/officeDocument/2006/relationships/image" Target="../media/image7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6.png"/><Relationship Id="rId4" Type="http://schemas.openxmlformats.org/officeDocument/2006/relationships/image" Target="../media/image25.jp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7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jpg"/><Relationship Id="rId4" Type="http://schemas.openxmlformats.org/officeDocument/2006/relationships/image" Target="../media/image28.jpg"/><Relationship Id="rId9" Type="http://schemas.openxmlformats.org/officeDocument/2006/relationships/image" Target="../media/image31.jp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jpg"/><Relationship Id="rId3" Type="http://schemas.openxmlformats.org/officeDocument/2006/relationships/image" Target="../media/image7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32.jp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jpg"/><Relationship Id="rId3" Type="http://schemas.openxmlformats.org/officeDocument/2006/relationships/image" Target="../media/image7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32.jpg"/><Relationship Id="rId4" Type="http://schemas.openxmlformats.org/officeDocument/2006/relationships/image" Target="../media/image35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41.jp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9742" y="1633501"/>
            <a:ext cx="4542372" cy="146706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60"/>
              </a:spcBef>
              <a:buNone/>
            </a:pPr>
            <a:r>
              <a:rPr lang="en-US" sz="4000" b="1" kern="0" spc="216" dirty="0" err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宠记PetNote</a:t>
            </a:r>
            <a:endParaRPr lang="en-US" sz="4000" b="1" kern="0" spc="216" dirty="0">
              <a:solidFill>
                <a:srgbClr val="FFFFFF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lnSpc>
                <a:spcPct val="100000"/>
              </a:lnSpc>
              <a:spcBef>
                <a:spcPts val="360"/>
              </a:spcBef>
              <a:buNone/>
            </a:pPr>
            <a:r>
              <a:rPr lang="en-US" sz="4000" b="1" kern="0" spc="216" dirty="0" err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智能宠物</a:t>
            </a:r>
            <a:r>
              <a:rPr lang="zh-CN" altLang="en-US" sz="4000" b="1" kern="0" spc="216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日常</a:t>
            </a:r>
            <a:r>
              <a:rPr lang="en-US" sz="4000" b="1" kern="0" spc="216" dirty="0" err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209742" y="4284640"/>
            <a:ext cx="4347602" cy="80041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r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584" kern="0" spc="72" dirty="0">
                <a:solidFill>
                  <a:srgbClr val="FDFC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基于HarmonyOS的轻量化宠物档案与</a:t>
            </a:r>
          </a:p>
          <a:p>
            <a:pPr marL="0" indent="0" algn="r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584" kern="0" spc="72" dirty="0">
                <a:solidFill>
                  <a:srgbClr val="FDFC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</a:t>
            </a:r>
            <a:r>
              <a:rPr lang="zh-CN" altLang="en-US" sz="1584" kern="0" spc="72" dirty="0">
                <a:solidFill>
                  <a:srgbClr val="FDFC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</a:t>
            </a:r>
            <a:r>
              <a:rPr lang="en-US" sz="1584" kern="0" spc="72" dirty="0" err="1">
                <a:solidFill>
                  <a:srgbClr val="FDFC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解决方案</a:t>
            </a:r>
            <a:endParaRPr lang="en-US" sz="1440" dirty="0"/>
          </a:p>
        </p:txBody>
      </p:sp>
      <p:sp>
        <p:nvSpPr>
          <p:cNvPr id="5" name="Shape 3"/>
          <p:cNvSpPr/>
          <p:nvPr/>
        </p:nvSpPr>
        <p:spPr>
          <a:xfrm>
            <a:off x="4347080" y="3137574"/>
            <a:ext cx="971243" cy="45720"/>
          </a:xfrm>
          <a:custGeom>
            <a:avLst/>
            <a:gdLst/>
            <a:ahLst/>
            <a:cxnLst/>
            <a:rect l="l" t="t" r="r" b="b"/>
            <a:pathLst>
              <a:path w="971243" h="45720">
                <a:moveTo>
                  <a:pt x="0" y="0"/>
                </a:moveTo>
                <a:moveTo>
                  <a:pt x="0" y="0"/>
                </a:moveTo>
                <a:lnTo>
                  <a:pt x="971243" y="0"/>
                </a:lnTo>
              </a:path>
            </a:pathLst>
          </a:custGeom>
          <a:noFill/>
          <a:ln w="5715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6" name="Image 0" descr="https://bjcdn.openstorage.cn/zhiwen/prod/system/2026/02/28/125dfee2f0464070ac8d8b0f10717972177225971059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0080" y="271804"/>
            <a:ext cx="311648" cy="384424"/>
          </a:xfrm>
          <a:prstGeom prst="rect">
            <a:avLst/>
          </a:prstGeom>
        </p:spPr>
      </p:pic>
      <p:grpSp>
        <p:nvGrpSpPr>
          <p:cNvPr id="13" name="组合 12">
            <a:extLst>
              <a:ext uri="{FF2B5EF4-FFF2-40B4-BE49-F238E27FC236}">
                <a16:creationId xmlns:a16="http://schemas.microsoft.com/office/drawing/2014/main" id="{83037883-8DEE-4B5F-BE69-A6E85EB1D224}"/>
              </a:ext>
            </a:extLst>
          </p:cNvPr>
          <p:cNvGrpSpPr/>
          <p:nvPr/>
        </p:nvGrpSpPr>
        <p:grpSpPr>
          <a:xfrm>
            <a:off x="8176160" y="0"/>
            <a:ext cx="967840" cy="450056"/>
            <a:chOff x="121444" y="118306"/>
            <a:chExt cx="967840" cy="450056"/>
          </a:xfrm>
        </p:grpSpPr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110C235A-E124-4BD1-3943-E7BBD66141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21444" y="118306"/>
              <a:ext cx="450056" cy="450056"/>
            </a:xfrm>
            <a:prstGeom prst="rect">
              <a:avLst/>
            </a:prstGeom>
          </p:spPr>
        </p:pic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021DED6B-3F9C-4C44-50B9-1922E2A8C5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39228" y="136560"/>
              <a:ext cx="450056" cy="43180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90380" y="556460"/>
            <a:ext cx="2563239" cy="8686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752" b="1" dirty="0">
                <a:solidFill>
                  <a:srgbClr val="FE8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1440" dirty="0"/>
          </a:p>
        </p:txBody>
      </p:sp>
      <p:sp>
        <p:nvSpPr>
          <p:cNvPr id="3" name="Text 1"/>
          <p:cNvSpPr/>
          <p:nvPr/>
        </p:nvSpPr>
        <p:spPr>
          <a:xfrm>
            <a:off x="2773103" y="734768"/>
            <a:ext cx="3597794" cy="81381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ctr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3312" b="1" kern="0" spc="288" dirty="0">
                <a:solidFill>
                  <a:srgbClr val="FE872E">
                    <a:alpha val="1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CONTENT</a:t>
            </a:r>
            <a:endParaRPr lang="en-US" sz="1440" dirty="0"/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F4B17A10-E904-234D-2201-02F27FA638B8}"/>
              </a:ext>
            </a:extLst>
          </p:cNvPr>
          <p:cNvGrpSpPr/>
          <p:nvPr/>
        </p:nvGrpSpPr>
        <p:grpSpPr>
          <a:xfrm>
            <a:off x="1307065" y="1933168"/>
            <a:ext cx="7495740" cy="1430924"/>
            <a:chOff x="938575" y="1618263"/>
            <a:chExt cx="7495740" cy="1430924"/>
          </a:xfrm>
        </p:grpSpPr>
        <p:sp>
          <p:nvSpPr>
            <p:cNvPr id="4" name="Text 2"/>
            <p:cNvSpPr/>
            <p:nvPr/>
          </p:nvSpPr>
          <p:spPr>
            <a:xfrm>
              <a:off x="1551222" y="1700560"/>
              <a:ext cx="3246411" cy="493597"/>
            </a:xfrm>
            <a:prstGeom prst="rect">
              <a:avLst/>
            </a:prstGeom>
            <a:noFill/>
            <a:ln/>
          </p:spPr>
          <p:txBody>
            <a:bodyPr wrap="square" lIns="91440" tIns="91440" rIns="91440" bIns="91440" rtlCol="0" anchor="t">
              <a:spAutoFit/>
            </a:bodyPr>
            <a:lstStyle/>
            <a:p>
              <a:pPr marL="0" indent="0">
                <a:lnSpc>
                  <a:spcPct val="120000"/>
                </a:lnSpc>
                <a:spcBef>
                  <a:spcPts val="360"/>
                </a:spcBef>
                <a:buNone/>
              </a:pPr>
              <a:r>
                <a:rPr lang="en-US" dirty="0">
                  <a:solidFill>
                    <a:srgbClr val="00070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项目背景与定位</a:t>
              </a:r>
              <a:endParaRPr lang="en-US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938575" y="1618263"/>
              <a:ext cx="767334" cy="733919"/>
            </a:xfrm>
            <a:prstGeom prst="rect">
              <a:avLst/>
            </a:prstGeom>
            <a:noFill/>
            <a:ln/>
          </p:spPr>
          <p:txBody>
            <a:bodyPr wrap="square" lIns="91440" tIns="91440" rIns="91440" bIns="91440" rtlCol="0" anchor="t">
              <a:spAutoFit/>
            </a:bodyPr>
            <a:lstStyle/>
            <a:p>
              <a:pPr marL="0" indent="0" algn="ctr">
                <a:lnSpc>
                  <a:spcPct val="120000"/>
                </a:lnSpc>
                <a:spcBef>
                  <a:spcPts val="360"/>
                </a:spcBef>
                <a:buNone/>
              </a:pPr>
              <a:r>
                <a:rPr lang="en-US" sz="3200" b="1" dirty="0">
                  <a:solidFill>
                    <a:srgbClr val="FE872E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01</a:t>
              </a:r>
              <a:endParaRPr lang="en-US" sz="32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5187904" y="1700560"/>
              <a:ext cx="3246411" cy="493597"/>
            </a:xfrm>
            <a:prstGeom prst="rect">
              <a:avLst/>
            </a:prstGeom>
            <a:noFill/>
            <a:ln/>
          </p:spPr>
          <p:txBody>
            <a:bodyPr wrap="square" lIns="91440" tIns="91440" rIns="91440" bIns="91440" rtlCol="0" anchor="t">
              <a:spAutoFit/>
            </a:bodyPr>
            <a:lstStyle/>
            <a:p>
              <a:pPr marL="0" indent="0">
                <a:lnSpc>
                  <a:spcPct val="120000"/>
                </a:lnSpc>
                <a:spcBef>
                  <a:spcPts val="360"/>
                </a:spcBef>
                <a:buNone/>
              </a:pPr>
              <a:r>
                <a:rPr lang="en-US" dirty="0">
                  <a:solidFill>
                    <a:srgbClr val="00070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核心功能设计与技术创新</a:t>
              </a:r>
              <a:endParaRPr lang="en-US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4575257" y="1618263"/>
              <a:ext cx="767334" cy="733919"/>
            </a:xfrm>
            <a:prstGeom prst="rect">
              <a:avLst/>
            </a:prstGeom>
            <a:noFill/>
            <a:ln/>
          </p:spPr>
          <p:txBody>
            <a:bodyPr wrap="square" lIns="91440" tIns="91440" rIns="91440" bIns="91440" rtlCol="0" anchor="t">
              <a:spAutoFit/>
            </a:bodyPr>
            <a:lstStyle/>
            <a:p>
              <a:pPr marL="0" indent="0" algn="ctr">
                <a:lnSpc>
                  <a:spcPct val="120000"/>
                </a:lnSpc>
                <a:spcBef>
                  <a:spcPts val="360"/>
                </a:spcBef>
                <a:buNone/>
              </a:pPr>
              <a:r>
                <a:rPr lang="en-US" sz="3200" b="1" dirty="0">
                  <a:solidFill>
                    <a:srgbClr val="FE872E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02</a:t>
              </a:r>
              <a:endParaRPr lang="en-US" sz="32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1551222" y="2397565"/>
              <a:ext cx="3246411" cy="493597"/>
            </a:xfrm>
            <a:prstGeom prst="rect">
              <a:avLst/>
            </a:prstGeom>
            <a:noFill/>
            <a:ln/>
          </p:spPr>
          <p:txBody>
            <a:bodyPr wrap="square" lIns="91440" tIns="91440" rIns="91440" bIns="91440" rtlCol="0" anchor="t">
              <a:spAutoFit/>
            </a:bodyPr>
            <a:lstStyle/>
            <a:p>
              <a:pPr marL="0" indent="0">
                <a:lnSpc>
                  <a:spcPct val="120000"/>
                </a:lnSpc>
                <a:spcBef>
                  <a:spcPts val="360"/>
                </a:spcBef>
                <a:buNone/>
              </a:pPr>
              <a:r>
                <a:rPr lang="en-US" dirty="0">
                  <a:solidFill>
                    <a:srgbClr val="00070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成果展示</a:t>
              </a:r>
              <a:endParaRPr lang="en-US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938575" y="2315268"/>
              <a:ext cx="767334" cy="733919"/>
            </a:xfrm>
            <a:prstGeom prst="rect">
              <a:avLst/>
            </a:prstGeom>
            <a:noFill/>
            <a:ln/>
          </p:spPr>
          <p:txBody>
            <a:bodyPr wrap="square" lIns="91440" tIns="91440" rIns="91440" bIns="91440" rtlCol="0" anchor="t">
              <a:spAutoFit/>
            </a:bodyPr>
            <a:lstStyle/>
            <a:p>
              <a:pPr marL="0" indent="0" algn="ctr">
                <a:lnSpc>
                  <a:spcPct val="120000"/>
                </a:lnSpc>
                <a:spcBef>
                  <a:spcPts val="360"/>
                </a:spcBef>
                <a:buNone/>
              </a:pPr>
              <a:r>
                <a:rPr lang="en-US" sz="3200" b="1" dirty="0">
                  <a:solidFill>
                    <a:srgbClr val="FE872E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03</a:t>
              </a:r>
              <a:endParaRPr lang="en-US" sz="32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5187904" y="2397565"/>
              <a:ext cx="3246411" cy="493597"/>
            </a:xfrm>
            <a:prstGeom prst="rect">
              <a:avLst/>
            </a:prstGeom>
            <a:noFill/>
            <a:ln/>
          </p:spPr>
          <p:txBody>
            <a:bodyPr wrap="square" lIns="91440" tIns="91440" rIns="91440" bIns="91440" rtlCol="0" anchor="t">
              <a:spAutoFit/>
            </a:bodyPr>
            <a:lstStyle/>
            <a:p>
              <a:pPr marL="0" indent="0">
                <a:lnSpc>
                  <a:spcPct val="120000"/>
                </a:lnSpc>
                <a:spcBef>
                  <a:spcPts val="360"/>
                </a:spcBef>
                <a:buNone/>
              </a:pPr>
              <a:r>
                <a:rPr lang="en-US" dirty="0">
                  <a:solidFill>
                    <a:srgbClr val="00070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测试验证与计划</a:t>
              </a:r>
              <a:endParaRPr lang="en-US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4575257" y="2315268"/>
              <a:ext cx="767334" cy="733919"/>
            </a:xfrm>
            <a:prstGeom prst="rect">
              <a:avLst/>
            </a:prstGeom>
            <a:noFill/>
            <a:ln/>
          </p:spPr>
          <p:txBody>
            <a:bodyPr wrap="square" lIns="91440" tIns="91440" rIns="91440" bIns="91440" rtlCol="0" anchor="t">
              <a:spAutoFit/>
            </a:bodyPr>
            <a:lstStyle/>
            <a:p>
              <a:pPr marL="0" indent="0" algn="ctr">
                <a:lnSpc>
                  <a:spcPct val="120000"/>
                </a:lnSpc>
                <a:spcBef>
                  <a:spcPts val="360"/>
                </a:spcBef>
                <a:buNone/>
              </a:pPr>
              <a:r>
                <a:rPr lang="en-US" sz="3200" b="1" dirty="0">
                  <a:solidFill>
                    <a:srgbClr val="FE872E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04</a:t>
              </a:r>
              <a:endParaRPr lang="en-US" sz="3200" dirty="0"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5D6A2ADE-DA30-45ED-4053-C8448BB4BA3A}"/>
              </a:ext>
            </a:extLst>
          </p:cNvPr>
          <p:cNvGrpSpPr/>
          <p:nvPr/>
        </p:nvGrpSpPr>
        <p:grpSpPr>
          <a:xfrm>
            <a:off x="8176160" y="0"/>
            <a:ext cx="967840" cy="450056"/>
            <a:chOff x="121444" y="118306"/>
            <a:chExt cx="967840" cy="450056"/>
          </a:xfrm>
        </p:grpSpPr>
        <p:pic>
          <p:nvPicPr>
            <p:cNvPr id="15" name="图片 14">
              <a:extLst>
                <a:ext uri="{FF2B5EF4-FFF2-40B4-BE49-F238E27FC236}">
                  <a16:creationId xmlns:a16="http://schemas.microsoft.com/office/drawing/2014/main" id="{7F042E99-4958-2C4E-097A-3D2E30F6934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1444" y="118306"/>
              <a:ext cx="450056" cy="450056"/>
            </a:xfrm>
            <a:prstGeom prst="rect">
              <a:avLst/>
            </a:prstGeom>
          </p:spPr>
        </p:pic>
        <p:pic>
          <p:nvPicPr>
            <p:cNvPr id="16" name="图片 15">
              <a:extLst>
                <a:ext uri="{FF2B5EF4-FFF2-40B4-BE49-F238E27FC236}">
                  <a16:creationId xmlns:a16="http://schemas.microsoft.com/office/drawing/2014/main" id="{2366308F-406D-80F8-810C-251463B194F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39228" y="136560"/>
              <a:ext cx="450056" cy="43180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78652" y="2312332"/>
            <a:ext cx="4786696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项目背景与定位</a:t>
            </a:r>
            <a:endParaRPr lang="en-US" sz="1440" dirty="0"/>
          </a:p>
        </p:txBody>
      </p:sp>
      <p:sp>
        <p:nvSpPr>
          <p:cNvPr id="3" name="Text 1"/>
          <p:cNvSpPr/>
          <p:nvPr/>
        </p:nvSpPr>
        <p:spPr>
          <a:xfrm>
            <a:off x="3464679" y="1146472"/>
            <a:ext cx="2214642" cy="147218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ctr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6768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40" dirty="0"/>
          </a:p>
        </p:txBody>
      </p:sp>
      <p:sp>
        <p:nvSpPr>
          <p:cNvPr id="4" name="Shape 2"/>
          <p:cNvSpPr/>
          <p:nvPr/>
        </p:nvSpPr>
        <p:spPr>
          <a:xfrm>
            <a:off x="4393087" y="3192356"/>
            <a:ext cx="357826" cy="45720"/>
          </a:xfrm>
          <a:custGeom>
            <a:avLst/>
            <a:gdLst/>
            <a:ahLst/>
            <a:cxnLst/>
            <a:rect l="l" t="t" r="r" b="b"/>
            <a:pathLst>
              <a:path w="357826" h="45720">
                <a:moveTo>
                  <a:pt x="0" y="0"/>
                </a:moveTo>
                <a:moveTo>
                  <a:pt x="0" y="0"/>
                </a:moveTo>
                <a:lnTo>
                  <a:pt x="357826" y="0"/>
                </a:lnTo>
              </a:path>
            </a:pathLst>
          </a:custGeom>
          <a:noFill/>
          <a:ln w="28575">
            <a:solidFill>
              <a:srgbClr val="FDFCA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E8800218-3985-A3DE-A1D7-60894F597E00}"/>
              </a:ext>
            </a:extLst>
          </p:cNvPr>
          <p:cNvGrpSpPr/>
          <p:nvPr/>
        </p:nvGrpSpPr>
        <p:grpSpPr>
          <a:xfrm>
            <a:off x="8176160" y="0"/>
            <a:ext cx="967840" cy="450056"/>
            <a:chOff x="121444" y="118306"/>
            <a:chExt cx="967840" cy="450056"/>
          </a:xfrm>
        </p:grpSpPr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7F7A2B7D-6988-6989-A4C8-6551CEE1F74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1444" y="118306"/>
              <a:ext cx="450056" cy="450056"/>
            </a:xfrm>
            <a:prstGeom prst="rect">
              <a:avLst/>
            </a:prstGeom>
          </p:spPr>
        </p:pic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3A4D23CF-BDAD-F06A-3959-995EA5DCC2B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39228" y="136560"/>
              <a:ext cx="450056" cy="43180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1354" y="195247"/>
            <a:ext cx="7859123" cy="56692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016" b="1" dirty="0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项目背景</a:t>
            </a:r>
            <a:endParaRPr lang="en-US" sz="1440" dirty="0"/>
          </a:p>
        </p:txBody>
      </p:sp>
      <p:sp>
        <p:nvSpPr>
          <p:cNvPr id="3" name="Shape 1"/>
          <p:cNvSpPr/>
          <p:nvPr/>
        </p:nvSpPr>
        <p:spPr>
          <a:xfrm>
            <a:off x="4556263" y="1161408"/>
            <a:ext cx="45720" cy="3343076"/>
          </a:xfrm>
          <a:custGeom>
            <a:avLst/>
            <a:gdLst/>
            <a:ahLst/>
            <a:cxnLst/>
            <a:rect l="l" t="t" r="r" b="b"/>
            <a:pathLst>
              <a:path w="45720" h="3343076">
                <a:moveTo>
                  <a:pt x="0" y="3343076"/>
                </a:moveTo>
                <a:moveTo>
                  <a:pt x="0" y="3343076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FE872E"/>
            </a:solidFill>
            <a:prstDash val="dash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4464823" y="4399345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FE87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4464823" y="1833732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FE87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4464823" y="978528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FE87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4464823" y="2688937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FE87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4464823" y="3544141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FE87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263624" y="872814"/>
            <a:ext cx="4018760" cy="430887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>
            <a:spAutoFit/>
          </a:bodyPr>
          <a:lstStyle/>
          <a:p>
            <a:pPr algn="r">
              <a:spcBef>
                <a:spcPts val="360"/>
              </a:spcBef>
            </a:pPr>
            <a:r>
              <a:rPr lang="zh-CN" altLang="en-US" sz="1600" b="1" dirty="0">
                <a:solidFill>
                  <a:srgbClr val="FE872E"/>
                </a:solidFill>
                <a:latin typeface="Microsoft Yahei" pitchFamily="34" charset="0"/>
                <a:ea typeface="Microsoft Yahei" pitchFamily="34" charset="-122"/>
              </a:rPr>
              <a:t>养宠需求全面升级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11302" y="1748989"/>
            <a:ext cx="4065677" cy="430887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>
            <a:spAutoFit/>
          </a:bodyPr>
          <a:lstStyle/>
          <a:p>
            <a:pPr marL="0" indent="0">
              <a:lnSpc>
                <a:spcPct val="100000"/>
              </a:lnSpc>
              <a:spcBef>
                <a:spcPts val="360"/>
              </a:spcBef>
              <a:buNone/>
            </a:pPr>
            <a:r>
              <a:rPr lang="zh-CN" altLang="en-US" sz="1600" b="1" dirty="0">
                <a:solidFill>
                  <a:srgbClr val="FE872E"/>
                </a:solidFill>
                <a:latin typeface="Microsoft Yahei" pitchFamily="34" charset="0"/>
                <a:ea typeface="Microsoft Yahei" pitchFamily="34" charset="-122"/>
              </a:rPr>
              <a:t>宠物信息零散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32117" y="2150344"/>
            <a:ext cx="3847743" cy="861370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91440" tIns="91440" rIns="91440" bIns="91440" rtlCol="0" anchor="ctr"/>
          <a:lstStyle/>
          <a:p>
            <a:pPr>
              <a:lnSpc>
                <a:spcPct val="133333"/>
              </a:lnSpc>
              <a:spcBef>
                <a:spcPts val="360"/>
              </a:spcBef>
            </a:pP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宠物档案分散留存于备忘录、聊天记录、相册、纸质单据中，信息碎片化严重，查阅低效、极易丢失，无法形成完整连续的健康数据链。</a:t>
            </a:r>
            <a:endParaRPr lang="en-US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63624" y="2313570"/>
            <a:ext cx="4018760" cy="430887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360"/>
              </a:spcBef>
              <a:buNone/>
            </a:pPr>
            <a:r>
              <a:rPr lang="zh-CN" altLang="en-US" sz="1600" b="1" dirty="0">
                <a:solidFill>
                  <a:srgbClr val="FE872E"/>
                </a:solidFill>
                <a:latin typeface="Microsoft Yahei" pitchFamily="34" charset="0"/>
                <a:ea typeface="Microsoft Yahei" pitchFamily="34" charset="-122"/>
              </a:rPr>
              <a:t>养护提醒极易疏漏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4139" y="2707495"/>
            <a:ext cx="4028276" cy="836646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91440" tIns="91440" rIns="91440" bIns="91440" rtlCol="0" anchor="ctr"/>
          <a:lstStyle/>
          <a:p>
            <a:pPr>
              <a:lnSpc>
                <a:spcPct val="133333"/>
              </a:lnSpc>
              <a:spcBef>
                <a:spcPts val="360"/>
              </a:spcBef>
            </a:pP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传统闹钟、便签提醒稳定性不足，频繁出现漏疫苗、漏驱虫、漏复诊、漏用药问题，宠物日常照护环节极易出现疏漏风险。</a:t>
            </a:r>
            <a:endParaRPr lang="en-US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811302" y="3299126"/>
            <a:ext cx="4065677" cy="430887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>
            <a:spAutoFit/>
          </a:bodyPr>
          <a:lstStyle/>
          <a:p>
            <a:pPr marL="0" indent="0">
              <a:lnSpc>
                <a:spcPct val="100000"/>
              </a:lnSpc>
              <a:spcBef>
                <a:spcPts val="360"/>
              </a:spcBef>
              <a:buNone/>
            </a:pPr>
            <a:r>
              <a:rPr lang="zh-CN" altLang="en-US" sz="1600" b="1" dirty="0">
                <a:solidFill>
                  <a:srgbClr val="FE872E"/>
                </a:solidFill>
                <a:latin typeface="Microsoft Yahei" pitchFamily="34" charset="0"/>
                <a:ea typeface="Microsoft Yahei" pitchFamily="34" charset="-122"/>
              </a:rPr>
              <a:t>档案迁移成本偏高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927833" y="3730013"/>
            <a:ext cx="3949146" cy="1012930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91440" tIns="91440" rIns="91440" bIns="91440" rtlCol="0" anchor="ctr"/>
          <a:lstStyle/>
          <a:p>
            <a:pPr>
              <a:lnSpc>
                <a:spcPct val="133333"/>
              </a:lnSpc>
              <a:spcBef>
                <a:spcPts val="360"/>
              </a:spcBef>
            </a:pP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手机换机、平台切换时，宠物历史健康资料迁移繁琐复杂，数据丢失风险高，用户跨设备管理档案时间与经济成本居高不下。</a:t>
            </a:r>
            <a:endParaRPr lang="en-US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263624" y="3662492"/>
            <a:ext cx="4018760" cy="430887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360"/>
              </a:spcBef>
              <a:buNone/>
            </a:pPr>
            <a:r>
              <a:rPr lang="zh-CN" altLang="en-US" sz="1600" b="1" dirty="0">
                <a:solidFill>
                  <a:srgbClr val="FE872E"/>
                </a:solidFill>
                <a:latin typeface="Microsoft Yahei" pitchFamily="34" charset="0"/>
                <a:ea typeface="Microsoft Yahei" pitchFamily="34" charset="-122"/>
              </a:rPr>
              <a:t>鸿蒙生态工具空缺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64139" y="4058916"/>
            <a:ext cx="4091609" cy="937110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91440" tIns="91440" rIns="91440" bIns="91440" rtlCol="0" anchor="ctr"/>
          <a:lstStyle/>
          <a:p>
            <a:pPr>
              <a:lnSpc>
                <a:spcPct val="133333"/>
              </a:lnSpc>
              <a:spcBef>
                <a:spcPts val="360"/>
              </a:spcBef>
            </a:pP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鸿蒙系统缺少轻量化专业养宠管理应用，无法全覆盖家庭饲养、宠物医院建档、宠物店客情维护场景，适配铲屎官、兽医、门店店主全人群需求。</a:t>
            </a:r>
            <a:endParaRPr lang="en-US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7FEE890E-B154-7ACB-D70B-2C0E9B09192A}"/>
              </a:ext>
            </a:extLst>
          </p:cNvPr>
          <p:cNvGrpSpPr/>
          <p:nvPr/>
        </p:nvGrpSpPr>
        <p:grpSpPr>
          <a:xfrm>
            <a:off x="8132590" y="80"/>
            <a:ext cx="967840" cy="450056"/>
            <a:chOff x="121444" y="118306"/>
            <a:chExt cx="967840" cy="450056"/>
          </a:xfrm>
        </p:grpSpPr>
        <p:pic>
          <p:nvPicPr>
            <p:cNvPr id="20" name="图片 19">
              <a:extLst>
                <a:ext uri="{FF2B5EF4-FFF2-40B4-BE49-F238E27FC236}">
                  <a16:creationId xmlns:a16="http://schemas.microsoft.com/office/drawing/2014/main" id="{FCAF37DB-77A8-BC3C-EFCF-7F8F2AF5FF4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1444" y="118306"/>
              <a:ext cx="450056" cy="450056"/>
            </a:xfrm>
            <a:prstGeom prst="rect">
              <a:avLst/>
            </a:prstGeom>
          </p:spPr>
        </p:pic>
        <p:pic>
          <p:nvPicPr>
            <p:cNvPr id="21" name="图片 20">
              <a:extLst>
                <a:ext uri="{FF2B5EF4-FFF2-40B4-BE49-F238E27FC236}">
                  <a16:creationId xmlns:a16="http://schemas.microsoft.com/office/drawing/2014/main" id="{B99F0C52-174A-DA96-96E0-25A4D7A7243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39228" y="136560"/>
              <a:ext cx="450056" cy="431802"/>
            </a:xfrm>
            <a:prstGeom prst="rect">
              <a:avLst/>
            </a:prstGeom>
          </p:spPr>
        </p:pic>
      </p:grpSp>
      <p:sp>
        <p:nvSpPr>
          <p:cNvPr id="28" name="文本框 27">
            <a:extLst>
              <a:ext uri="{FF2B5EF4-FFF2-40B4-BE49-F238E27FC236}">
                <a16:creationId xmlns:a16="http://schemas.microsoft.com/office/drawing/2014/main" id="{8F9B34A1-C5C3-AE56-027D-9D5E5476873E}"/>
              </a:ext>
            </a:extLst>
          </p:cNvPr>
          <p:cNvSpPr txBox="1"/>
          <p:nvPr/>
        </p:nvSpPr>
        <p:spPr>
          <a:xfrm>
            <a:off x="364139" y="1281172"/>
            <a:ext cx="4018760" cy="89255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城市家庭养宠普及率持续攀升，宠物逐步成为家庭成员。</a:t>
            </a:r>
            <a:endParaRPr lang="en-US" alt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疫苗、驱虫、就医、喂养等宠物健康数据，长期积累、高频查阅，规范化管理成为全民刚需。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1354" y="195247"/>
            <a:ext cx="7859123" cy="530723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016" b="1" dirty="0" err="1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项目概述</a:t>
            </a:r>
            <a:endParaRPr lang="en-US" sz="1440" dirty="0"/>
          </a:p>
        </p:txBody>
      </p:sp>
      <p:sp>
        <p:nvSpPr>
          <p:cNvPr id="3" name="Text 1"/>
          <p:cNvSpPr/>
          <p:nvPr/>
        </p:nvSpPr>
        <p:spPr>
          <a:xfrm>
            <a:off x="261173" y="1166372"/>
            <a:ext cx="2728570" cy="377647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>
              <a:lnSpc>
                <a:spcPct val="100000"/>
              </a:lnSpc>
              <a:spcBef>
                <a:spcPts val="360"/>
              </a:spcBef>
              <a:buNone/>
            </a:pPr>
            <a:r>
              <a:rPr lang="en-US" b="1" dirty="0" err="1">
                <a:solidFill>
                  <a:srgbClr val="FE8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</a:t>
            </a:r>
            <a:r>
              <a:rPr lang="zh-CN" altLang="en-US" b="1" dirty="0">
                <a:solidFill>
                  <a:srgbClr val="FE8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名称</a:t>
            </a: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261173" y="1675734"/>
            <a:ext cx="2590182" cy="677108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91440" tIns="91440" rIns="91440" bIns="91440" rtlCol="0" anchor="t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宠记 PetNote —— 鸿蒙生态宠物智能管理应用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 3"/>
          <p:cNvSpPr/>
          <p:nvPr/>
        </p:nvSpPr>
        <p:spPr>
          <a:xfrm>
            <a:off x="6193600" y="2382926"/>
            <a:ext cx="2728570" cy="377647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 marL="0" indent="0">
              <a:lnSpc>
                <a:spcPct val="100000"/>
              </a:lnSpc>
              <a:spcBef>
                <a:spcPts val="360"/>
              </a:spcBef>
              <a:buNone/>
            </a:pPr>
            <a:r>
              <a:rPr lang="zh-CN" altLang="en-US" b="1" dirty="0">
                <a:solidFill>
                  <a:srgbClr val="FE872E"/>
                </a:solidFill>
                <a:latin typeface="Microsoft Yahei" pitchFamily="34" charset="0"/>
                <a:ea typeface="Microsoft Yahei" pitchFamily="34" charset="-122"/>
              </a:rPr>
              <a:t>项目目标</a:t>
            </a: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6193600" y="2908669"/>
            <a:ext cx="2655432" cy="1120500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91440" tIns="91440" rIns="91440" bIns="91440" rtlCol="0" anchor="t">
            <a:spAutoFit/>
          </a:bodyPr>
          <a:lstStyle/>
          <a:p>
            <a:pPr>
              <a:lnSpc>
                <a:spcPct val="131429"/>
              </a:lnSpc>
              <a:spcBef>
                <a:spcPts val="360"/>
              </a:spcBef>
            </a:pPr>
            <a:r>
              <a:rPr lang="zh-CN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让养宠更简单、让健康可追踪、让记录更智能、让管理更高效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 5"/>
          <p:cNvSpPr/>
          <p:nvPr/>
        </p:nvSpPr>
        <p:spPr>
          <a:xfrm>
            <a:off x="6224644" y="1166371"/>
            <a:ext cx="2728570" cy="377647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>
              <a:lnSpc>
                <a:spcPct val="100000"/>
              </a:lnSpc>
              <a:spcBef>
                <a:spcPts val="360"/>
              </a:spcBef>
              <a:buNone/>
            </a:pPr>
            <a:r>
              <a:rPr lang="zh-CN" altLang="en-US" b="1" dirty="0">
                <a:solidFill>
                  <a:srgbClr val="FE872E"/>
                </a:solidFill>
                <a:latin typeface="Microsoft Yahei" pitchFamily="34" charset="0"/>
                <a:ea typeface="Microsoft Yahei" pitchFamily="34" charset="-122"/>
              </a:rPr>
              <a:t>支持平台</a:t>
            </a:r>
            <a:endParaRPr lang="en-US" dirty="0"/>
          </a:p>
        </p:txBody>
      </p:sp>
      <p:sp>
        <p:nvSpPr>
          <p:cNvPr id="11" name="Text 6"/>
          <p:cNvSpPr/>
          <p:nvPr/>
        </p:nvSpPr>
        <p:spPr>
          <a:xfrm>
            <a:off x="6193600" y="1536072"/>
            <a:ext cx="2728570" cy="475451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91440" tIns="91440" rIns="91440" bIns="91440" rtlCol="0" anchor="t">
            <a:spAutoFit/>
          </a:bodyPr>
          <a:lstStyle/>
          <a:p>
            <a:pPr>
              <a:lnSpc>
                <a:spcPct val="131429"/>
              </a:lnSpc>
              <a:spcBef>
                <a:spcPts val="360"/>
              </a:spcBef>
            </a:pPr>
            <a:r>
              <a:rPr lang="zh-CN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鸿蒙 HarmonyOS </a:t>
            </a: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Next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 1"/>
          <p:cNvSpPr/>
          <p:nvPr/>
        </p:nvSpPr>
        <p:spPr>
          <a:xfrm>
            <a:off x="261173" y="2439043"/>
            <a:ext cx="2728570" cy="377647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>
              <a:lnSpc>
                <a:spcPct val="100000"/>
              </a:lnSpc>
              <a:spcBef>
                <a:spcPts val="360"/>
              </a:spcBef>
              <a:buNone/>
            </a:pPr>
            <a:r>
              <a:rPr lang="en-US" b="1" dirty="0" err="1">
                <a:solidFill>
                  <a:srgbClr val="FE8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</a:t>
            </a:r>
            <a:r>
              <a:rPr lang="zh-CN" altLang="en-US" b="1" dirty="0">
                <a:solidFill>
                  <a:srgbClr val="FE8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</a:t>
            </a:r>
            <a:endParaRPr lang="en-US" dirty="0"/>
          </a:p>
        </p:txBody>
      </p:sp>
      <p:sp>
        <p:nvSpPr>
          <p:cNvPr id="16" name="Text 2"/>
          <p:cNvSpPr/>
          <p:nvPr/>
        </p:nvSpPr>
        <p:spPr>
          <a:xfrm>
            <a:off x="261173" y="2907208"/>
            <a:ext cx="2590182" cy="923330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91440" tIns="91440" rIns="91440" bIns="91440" rtlCol="0" anchor="t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 HarmonyOS 的宠物全生命周期健康与生活记录工具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26194690-25C7-3D4A-EFAD-6C33AE29A5A5}"/>
              </a:ext>
            </a:extLst>
          </p:cNvPr>
          <p:cNvGrpSpPr/>
          <p:nvPr/>
        </p:nvGrpSpPr>
        <p:grpSpPr>
          <a:xfrm>
            <a:off x="8098726" y="10552"/>
            <a:ext cx="967840" cy="450056"/>
            <a:chOff x="121444" y="118306"/>
            <a:chExt cx="967840" cy="450056"/>
          </a:xfrm>
        </p:grpSpPr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800915D4-26C1-2328-8D6F-8CB868706CA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1444" y="118306"/>
              <a:ext cx="450056" cy="450056"/>
            </a:xfrm>
            <a:prstGeom prst="rect">
              <a:avLst/>
            </a:prstGeom>
          </p:spPr>
        </p:pic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C1114499-D331-0E68-B6BD-0C10CA04B8F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39228" y="136560"/>
              <a:ext cx="450056" cy="431802"/>
            </a:xfrm>
            <a:prstGeom prst="rect">
              <a:avLst/>
            </a:prstGeom>
          </p:spPr>
        </p:pic>
      </p:grpSp>
      <p:pic>
        <p:nvPicPr>
          <p:cNvPr id="15" name="图片 14">
            <a:extLst>
              <a:ext uri="{FF2B5EF4-FFF2-40B4-BE49-F238E27FC236}">
                <a16:creationId xmlns:a16="http://schemas.microsoft.com/office/drawing/2014/main" id="{0CED02AE-27A4-8AB1-C9F9-02DB3430F5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88987" y="969821"/>
            <a:ext cx="3203856" cy="3203856"/>
          </a:xfrm>
          <a:prstGeom prst="rect">
            <a:avLst/>
          </a:prstGeom>
        </p:spPr>
      </p:pic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BE00C3C5-B140-F83E-8C17-AA763F605AD3}"/>
              </a:ext>
            </a:extLst>
          </p:cNvPr>
          <p:cNvSpPr/>
          <p:nvPr/>
        </p:nvSpPr>
        <p:spPr>
          <a:xfrm>
            <a:off x="3273560" y="1190290"/>
            <a:ext cx="970888" cy="970888"/>
          </a:xfrm>
          <a:prstGeom prst="round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8" name="图形 17">
            <a:extLst>
              <a:ext uri="{FF2B5EF4-FFF2-40B4-BE49-F238E27FC236}">
                <a16:creationId xmlns:a16="http://schemas.microsoft.com/office/drawing/2014/main" id="{13C342B5-7F28-A331-A856-08C8C6643F6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306466" y="1223005"/>
            <a:ext cx="938173" cy="938173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72042FA5-2F6F-F3C0-FFD3-BC8BCDEB5E48}"/>
              </a:ext>
            </a:extLst>
          </p:cNvPr>
          <p:cNvSpPr/>
          <p:nvPr/>
        </p:nvSpPr>
        <p:spPr>
          <a:xfrm>
            <a:off x="3044462" y="2161178"/>
            <a:ext cx="1462179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CN" alt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宠记</a:t>
            </a:r>
            <a:r>
              <a:rPr lang="en-US" altLang="zh-CN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App</a:t>
            </a:r>
            <a:endParaRPr lang="zh-CN" altLang="en-US" sz="2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78652" y="2312332"/>
            <a:ext cx="4786696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核心功能设计与技术创新</a:t>
            </a:r>
            <a:endParaRPr lang="en-US" sz="1440" dirty="0"/>
          </a:p>
        </p:txBody>
      </p:sp>
      <p:sp>
        <p:nvSpPr>
          <p:cNvPr id="3" name="Text 1"/>
          <p:cNvSpPr/>
          <p:nvPr/>
        </p:nvSpPr>
        <p:spPr>
          <a:xfrm>
            <a:off x="3464679" y="1146472"/>
            <a:ext cx="2214642" cy="147218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ctr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6768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40" dirty="0"/>
          </a:p>
        </p:txBody>
      </p:sp>
      <p:sp>
        <p:nvSpPr>
          <p:cNvPr id="4" name="Shape 2"/>
          <p:cNvSpPr/>
          <p:nvPr/>
        </p:nvSpPr>
        <p:spPr>
          <a:xfrm>
            <a:off x="4393087" y="3192356"/>
            <a:ext cx="357826" cy="45720"/>
          </a:xfrm>
          <a:custGeom>
            <a:avLst/>
            <a:gdLst/>
            <a:ahLst/>
            <a:cxnLst/>
            <a:rect l="l" t="t" r="r" b="b"/>
            <a:pathLst>
              <a:path w="357826" h="45720">
                <a:moveTo>
                  <a:pt x="0" y="0"/>
                </a:moveTo>
                <a:moveTo>
                  <a:pt x="0" y="0"/>
                </a:moveTo>
                <a:lnTo>
                  <a:pt x="357826" y="0"/>
                </a:lnTo>
              </a:path>
            </a:pathLst>
          </a:custGeom>
          <a:noFill/>
          <a:ln w="28575">
            <a:solidFill>
              <a:srgbClr val="FDFCA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6817B811-A3F1-1F42-B26C-6241C3795267}"/>
              </a:ext>
            </a:extLst>
          </p:cNvPr>
          <p:cNvGrpSpPr/>
          <p:nvPr/>
        </p:nvGrpSpPr>
        <p:grpSpPr>
          <a:xfrm>
            <a:off x="8176160" y="0"/>
            <a:ext cx="967840" cy="450056"/>
            <a:chOff x="121444" y="118306"/>
            <a:chExt cx="967840" cy="450056"/>
          </a:xfrm>
        </p:grpSpPr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84C24B77-B1A4-F7A9-961E-3E21DD8D0D9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1444" y="118306"/>
              <a:ext cx="450056" cy="450056"/>
            </a:xfrm>
            <a:prstGeom prst="rect">
              <a:avLst/>
            </a:prstGeom>
          </p:spPr>
        </p:pic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4F02EC46-FD6A-B599-1FA3-5A884CDF914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39228" y="136560"/>
              <a:ext cx="450056" cy="43180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1354" y="195247"/>
            <a:ext cx="7859123" cy="56692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016" b="1" dirty="0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功能展示（具体功能模块）</a:t>
            </a:r>
            <a:endParaRPr lang="en-US" sz="1440" dirty="0"/>
          </a:p>
        </p:txBody>
      </p:sp>
      <p:sp>
        <p:nvSpPr>
          <p:cNvPr id="3" name="Shape 1"/>
          <p:cNvSpPr/>
          <p:nvPr/>
        </p:nvSpPr>
        <p:spPr>
          <a:xfrm>
            <a:off x="4556263" y="853615"/>
            <a:ext cx="45720" cy="3343076"/>
          </a:xfrm>
          <a:custGeom>
            <a:avLst/>
            <a:gdLst/>
            <a:ahLst/>
            <a:cxnLst/>
            <a:rect l="l" t="t" r="r" b="b"/>
            <a:pathLst>
              <a:path w="45720" h="3343076">
                <a:moveTo>
                  <a:pt x="0" y="3343076"/>
                </a:moveTo>
                <a:moveTo>
                  <a:pt x="0" y="3343076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FE872E"/>
            </a:solidFill>
            <a:prstDash val="dash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4464823" y="4091552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FE87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4464823" y="1525939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FE87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4464823" y="670735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FE87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4464823" y="2381144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FE87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4464823" y="3236348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FE87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191023" y="640079"/>
            <a:ext cx="4018760" cy="40011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360"/>
              </a:spcBef>
              <a:buNone/>
            </a:pPr>
            <a:r>
              <a:rPr lang="en-US" sz="1400" b="1" dirty="0">
                <a:solidFill>
                  <a:srgbClr val="FE8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宠物档案与记录方案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44842" y="1102773"/>
            <a:ext cx="3964941" cy="1047055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91440" tIns="91440" rIns="91440" bIns="91440" rtlCol="0" anchor="ctr"/>
          <a:lstStyle/>
          <a:p>
            <a:pPr marL="0" indent="0">
              <a:lnSpc>
                <a:spcPct val="133333"/>
              </a:lnSpc>
              <a:spcBef>
                <a:spcPts val="360"/>
              </a:spcBef>
              <a:buNone/>
            </a:pPr>
            <a:r>
              <a:rPr lang="en-US" sz="1000" dirty="0">
                <a:solidFill>
                  <a:srgbClr val="00070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 pitchFamily="34" charset="-120"/>
              </a:rPr>
              <a:t>      </a:t>
            </a:r>
            <a:r>
              <a:rPr lang="en-US" sz="1000" dirty="0" err="1">
                <a:solidFill>
                  <a:srgbClr val="00070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 pitchFamily="34" charset="-120"/>
              </a:rPr>
              <a:t>项目以宠物为核心组织数据结构，</a:t>
            </a:r>
            <a:r>
              <a:rPr lang="en-US" sz="10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 pitchFamily="34" charset="-120"/>
              </a:rPr>
              <a:t>将疫苗、驱虫、体检、喂养、异常状态</a:t>
            </a:r>
            <a:r>
              <a:rPr lang="en-US" sz="1000" dirty="0" err="1">
                <a:solidFill>
                  <a:srgbClr val="00070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 pitchFamily="34" charset="-120"/>
              </a:rPr>
              <a:t>等记录统一纳入宠物维度管理</a:t>
            </a:r>
            <a:r>
              <a:rPr lang="en-US" sz="1000" dirty="0">
                <a:solidFill>
                  <a:srgbClr val="00070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 pitchFamily="34" charset="-120"/>
              </a:rPr>
              <a:t>。</a:t>
            </a:r>
          </a:p>
          <a:p>
            <a:pPr marL="0" indent="0">
              <a:lnSpc>
                <a:spcPct val="133333"/>
              </a:lnSpc>
              <a:spcBef>
                <a:spcPts val="360"/>
              </a:spcBef>
              <a:buNone/>
            </a:pPr>
            <a:r>
              <a:rPr lang="en-US" sz="1000" dirty="0">
                <a:solidFill>
                  <a:srgbClr val="00070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 pitchFamily="34" charset="-120"/>
              </a:rPr>
              <a:t>      </a:t>
            </a:r>
            <a:r>
              <a:rPr lang="en-US" sz="1000" dirty="0" err="1">
                <a:solidFill>
                  <a:srgbClr val="00070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 pitchFamily="34" charset="-120"/>
              </a:rPr>
              <a:t>相比按功能孤立存储，按宠物聚合的方式更符合真实养宠认知路径，</a:t>
            </a:r>
            <a:r>
              <a:rPr lang="en-US" sz="10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 pitchFamily="34" charset="-120"/>
              </a:rPr>
              <a:t>也便于后续</a:t>
            </a:r>
            <a:r>
              <a:rPr lang="en-US" sz="1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 pitchFamily="34" charset="-120"/>
              </a:rPr>
              <a:t> AI </a:t>
            </a:r>
            <a:r>
              <a:rPr lang="en-US" sz="10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 pitchFamily="34" charset="-120"/>
              </a:rPr>
              <a:t>总览做阶段性分析与交叉比对</a:t>
            </a:r>
            <a:r>
              <a:rPr lang="en-US" sz="864" dirty="0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440" dirty="0"/>
          </a:p>
        </p:txBody>
      </p:sp>
      <p:sp>
        <p:nvSpPr>
          <p:cNvPr id="11" name="Text 9"/>
          <p:cNvSpPr/>
          <p:nvPr/>
        </p:nvSpPr>
        <p:spPr>
          <a:xfrm>
            <a:off x="4811301" y="1428178"/>
            <a:ext cx="4065677" cy="40011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>
            <a:spAutoFit/>
          </a:bodyPr>
          <a:lstStyle/>
          <a:p>
            <a:pPr marL="0" indent="0">
              <a:lnSpc>
                <a:spcPct val="100000"/>
              </a:lnSpc>
              <a:spcBef>
                <a:spcPts val="360"/>
              </a:spcBef>
              <a:buNone/>
            </a:pPr>
            <a:r>
              <a:rPr lang="en-US" sz="1400" b="1" dirty="0">
                <a:solidFill>
                  <a:srgbClr val="FE8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提醒与待处理清单方案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83961" y="1882708"/>
            <a:ext cx="4059221" cy="1092722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91440" tIns="91440" rIns="91440" bIns="91440" rtlCol="0" anchor="ctr"/>
          <a:lstStyle/>
          <a:p>
            <a:pPr marL="0" indent="0" algn="just">
              <a:lnSpc>
                <a:spcPct val="133333"/>
              </a:lnSpc>
              <a:spcBef>
                <a:spcPts val="360"/>
              </a:spcBef>
              <a:buNone/>
            </a:pPr>
            <a:r>
              <a:rPr lang="en-US" sz="1000" dirty="0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 </a:t>
            </a:r>
            <a:r>
              <a:rPr lang="en-US" sz="1000" dirty="0" err="1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提醒模块围绕“计划事项生成</a:t>
            </a:r>
            <a:r>
              <a:rPr lang="en-US" sz="1000" dirty="0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- 定时触发 - </a:t>
            </a:r>
            <a:r>
              <a:rPr lang="en-US" sz="1000" dirty="0" err="1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点击回到应用处理”展开，重点支持疫苗、驱虫、复诊等场景</a:t>
            </a:r>
            <a:r>
              <a:rPr lang="en-US" sz="1000" dirty="0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</a:p>
          <a:p>
            <a:pPr marL="0" indent="0" algn="just">
              <a:lnSpc>
                <a:spcPct val="133333"/>
              </a:lnSpc>
              <a:spcBef>
                <a:spcPts val="360"/>
              </a:spcBef>
              <a:buNone/>
            </a:pPr>
            <a:r>
              <a:rPr lang="en-US" sz="1000" dirty="0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  Harmony 平台通过</a:t>
            </a:r>
            <a:r>
              <a:rPr lang="en-US" sz="1000" dirty="0">
                <a:solidFill>
                  <a:srgbClr val="FF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原生插件桥接通知与日历能力</a:t>
            </a:r>
            <a:r>
              <a:rPr lang="en-US" sz="1000" dirty="0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，既保证提醒可达，又能让用户在系统级入口中看到任务信息，</a:t>
            </a:r>
            <a:r>
              <a:rPr lang="en-US" sz="1000" dirty="0">
                <a:solidFill>
                  <a:srgbClr val="FF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提升实际触达效率</a:t>
            </a:r>
            <a:r>
              <a:rPr lang="en-US" sz="1000" dirty="0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55525" y="2193896"/>
            <a:ext cx="4018760" cy="40011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360"/>
              </a:spcBef>
              <a:buNone/>
            </a:pPr>
            <a:r>
              <a:rPr lang="en-US" sz="1400" b="1" dirty="0">
                <a:solidFill>
                  <a:srgbClr val="FE8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总览方案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55525" y="2558845"/>
            <a:ext cx="3927320" cy="1017374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91440" tIns="91440" rIns="91440" bIns="91440" rtlCol="0" anchor="ctr"/>
          <a:lstStyle/>
          <a:p>
            <a:pPr marL="0" indent="0">
              <a:lnSpc>
                <a:spcPct val="133333"/>
              </a:lnSpc>
              <a:spcBef>
                <a:spcPts val="360"/>
              </a:spcBef>
              <a:buNone/>
            </a:pPr>
            <a:r>
              <a:rPr lang="en-US" sz="1000" dirty="0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 AI </a:t>
            </a:r>
            <a:r>
              <a:rPr lang="en-US" sz="1000" dirty="0" err="1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模块不直接替代原始记录，而是在用户</a:t>
            </a:r>
            <a:r>
              <a:rPr lang="en-US" sz="1000" dirty="0" err="1">
                <a:solidFill>
                  <a:srgbClr val="FF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选择时间范围后</a:t>
            </a:r>
            <a:r>
              <a:rPr lang="en-US" sz="1000" dirty="0" err="1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，对多类记录进行归纳与总结，输出近期状态、</a:t>
            </a:r>
            <a:r>
              <a:rPr lang="en-US" sz="1000" dirty="0" err="1">
                <a:solidFill>
                  <a:srgbClr val="FF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重点关注项和照护建议</a:t>
            </a:r>
            <a:r>
              <a:rPr lang="en-US" sz="1000" dirty="0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</a:p>
          <a:p>
            <a:pPr marL="0" indent="0">
              <a:lnSpc>
                <a:spcPct val="133333"/>
              </a:lnSpc>
              <a:spcBef>
                <a:spcPts val="360"/>
              </a:spcBef>
              <a:buNone/>
            </a:pPr>
            <a:r>
              <a:rPr lang="en-US" sz="1000" dirty="0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 </a:t>
            </a:r>
            <a:r>
              <a:rPr lang="en-US" sz="1000" dirty="0" err="1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系统支持多</a:t>
            </a:r>
            <a:r>
              <a:rPr lang="en-US" sz="1000" dirty="0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AI </a:t>
            </a:r>
            <a:r>
              <a:rPr lang="en-US" sz="1000" dirty="0" err="1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提供商配置、连接测试与安全存储，既能保证功能演示完整，又能控制接口接入风险</a:t>
            </a:r>
            <a:r>
              <a:rPr lang="en-US" sz="1000" dirty="0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11302" y="3134886"/>
            <a:ext cx="4065677" cy="40011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>
            <a:spAutoFit/>
          </a:bodyPr>
          <a:lstStyle/>
          <a:p>
            <a:pPr marL="0" indent="0">
              <a:lnSpc>
                <a:spcPct val="100000"/>
              </a:lnSpc>
              <a:spcBef>
                <a:spcPts val="360"/>
              </a:spcBef>
              <a:buNone/>
            </a:pPr>
            <a:r>
              <a:rPr lang="en-US" sz="1400" b="1" dirty="0">
                <a:solidFill>
                  <a:srgbClr val="FE8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数据备份与恢复方案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57022" y="3576218"/>
            <a:ext cx="4059221" cy="1372035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91440" tIns="91440" rIns="91440" bIns="91440" rtlCol="0" anchor="ctr"/>
          <a:lstStyle/>
          <a:p>
            <a:pPr marL="0" indent="0">
              <a:lnSpc>
                <a:spcPct val="133333"/>
              </a:lnSpc>
              <a:spcBef>
                <a:spcPts val="360"/>
              </a:spcBef>
              <a:buNone/>
            </a:pPr>
            <a:r>
              <a:rPr lang="en-US" sz="1000" dirty="0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</a:t>
            </a:r>
            <a:r>
              <a:rPr lang="en-US" sz="1000" dirty="0" err="1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为解决换机迁移、误删恢复和资料长期保存问题，项目</a:t>
            </a:r>
            <a:r>
              <a:rPr lang="en-US" sz="1000" dirty="0" err="1">
                <a:solidFill>
                  <a:srgbClr val="FF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设计了完整的数据导入导出机制</a:t>
            </a:r>
            <a:r>
              <a:rPr lang="en-US" sz="1000" dirty="0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</a:p>
          <a:p>
            <a:pPr marL="0" indent="0">
              <a:lnSpc>
                <a:spcPct val="133333"/>
              </a:lnSpc>
              <a:spcBef>
                <a:spcPts val="360"/>
              </a:spcBef>
              <a:buNone/>
            </a:pPr>
            <a:r>
              <a:rPr lang="en-US" sz="1000" dirty="0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 </a:t>
            </a:r>
            <a:r>
              <a:rPr lang="en-US" sz="1000" dirty="0" err="1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导出时生成结构化</a:t>
            </a:r>
            <a:r>
              <a:rPr lang="en-US" sz="1000" dirty="0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JSON </a:t>
            </a:r>
            <a:r>
              <a:rPr lang="en-US" sz="1000" dirty="0" err="1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数据包，支持业务数据、普通设置及必要元信息；恢复前自动生成本地快照，用于用户回退</a:t>
            </a:r>
            <a:r>
              <a:rPr lang="en-US" sz="1000" dirty="0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</a:p>
          <a:p>
            <a:pPr marL="0" indent="0">
              <a:lnSpc>
                <a:spcPct val="133333"/>
              </a:lnSpc>
              <a:spcBef>
                <a:spcPts val="360"/>
              </a:spcBef>
              <a:buNone/>
            </a:pPr>
            <a:r>
              <a:rPr lang="en-US" sz="1000" dirty="0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 </a:t>
            </a:r>
            <a:r>
              <a:rPr lang="en-US" sz="1000" dirty="0" err="1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该方案</a:t>
            </a:r>
            <a:r>
              <a:rPr lang="en-US" sz="1000" dirty="0" err="1">
                <a:solidFill>
                  <a:srgbClr val="FF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强调数据自主权和可解释性</a:t>
            </a:r>
            <a:r>
              <a:rPr lang="en-US" sz="1000" dirty="0" err="1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，能够直接回应比赛场景下</a:t>
            </a:r>
            <a:r>
              <a:rPr lang="en-US" sz="1000" dirty="0" err="1">
                <a:solidFill>
                  <a:srgbClr val="FF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“项目实用性”和“可持续应用”</a:t>
            </a:r>
            <a:r>
              <a:rPr lang="en-US" sz="1000" dirty="0" err="1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两个评价点</a:t>
            </a:r>
            <a:r>
              <a:rPr lang="en-US" sz="1000" dirty="0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55525" y="3617808"/>
            <a:ext cx="4018760" cy="40011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360"/>
              </a:spcBef>
              <a:buNone/>
            </a:pPr>
            <a:r>
              <a:rPr lang="en-US" sz="1400" b="1" dirty="0">
                <a:solidFill>
                  <a:srgbClr val="FE8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诊断与稳定性方案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44842" y="4017918"/>
            <a:ext cx="3964941" cy="924243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91440" tIns="91440" rIns="91440" bIns="91440" rtlCol="0" anchor="ctr"/>
          <a:lstStyle/>
          <a:p>
            <a:pPr marL="0" indent="0">
              <a:lnSpc>
                <a:spcPct val="133333"/>
              </a:lnSpc>
              <a:spcBef>
                <a:spcPts val="360"/>
              </a:spcBef>
              <a:buNone/>
            </a:pPr>
            <a:r>
              <a:rPr lang="en-US" sz="1000" dirty="0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 </a:t>
            </a:r>
            <a:r>
              <a:rPr lang="en-US" sz="1000" dirty="0" err="1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项目补充了应用日志中心和异常诊断机制，对运行错误、AI</a:t>
            </a:r>
            <a:r>
              <a:rPr lang="en-US" sz="1000" dirty="0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1000" dirty="0" err="1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请求、数据恢复、提醒调度等关键链路进行记录，为测试、演示和后续运维提供依据</a:t>
            </a:r>
            <a:r>
              <a:rPr lang="en-US" sz="1000" dirty="0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</a:p>
          <a:p>
            <a:pPr marL="0" indent="0">
              <a:lnSpc>
                <a:spcPct val="133333"/>
              </a:lnSpc>
              <a:spcBef>
                <a:spcPts val="360"/>
              </a:spcBef>
              <a:buNone/>
            </a:pPr>
            <a:r>
              <a:rPr lang="en-US" sz="1000" dirty="0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 </a:t>
            </a:r>
            <a:r>
              <a:rPr lang="en-US" sz="1000" dirty="0" err="1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这使项目不只停留在功能堆叠，而是</a:t>
            </a:r>
            <a:r>
              <a:rPr lang="en-US" sz="1000" dirty="0" err="1">
                <a:solidFill>
                  <a:srgbClr val="FF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具备一定工程成熟度</a:t>
            </a:r>
            <a:r>
              <a:rPr lang="en-US" sz="1000" dirty="0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00" dirty="0"/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27615AB5-DAA5-AE52-2C58-C2544A7348D8}"/>
              </a:ext>
            </a:extLst>
          </p:cNvPr>
          <p:cNvGrpSpPr/>
          <p:nvPr/>
        </p:nvGrpSpPr>
        <p:grpSpPr>
          <a:xfrm>
            <a:off x="8176160" y="1038"/>
            <a:ext cx="967840" cy="450056"/>
            <a:chOff x="121444" y="118306"/>
            <a:chExt cx="967840" cy="450056"/>
          </a:xfrm>
        </p:grpSpPr>
        <p:pic>
          <p:nvPicPr>
            <p:cNvPr id="20" name="图片 19">
              <a:extLst>
                <a:ext uri="{FF2B5EF4-FFF2-40B4-BE49-F238E27FC236}">
                  <a16:creationId xmlns:a16="http://schemas.microsoft.com/office/drawing/2014/main" id="{06894FB8-E4F1-2BEB-D631-667DD3169AD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1444" y="118306"/>
              <a:ext cx="450056" cy="450056"/>
            </a:xfrm>
            <a:prstGeom prst="rect">
              <a:avLst/>
            </a:prstGeom>
          </p:spPr>
        </p:pic>
        <p:pic>
          <p:nvPicPr>
            <p:cNvPr id="21" name="图片 20">
              <a:extLst>
                <a:ext uri="{FF2B5EF4-FFF2-40B4-BE49-F238E27FC236}">
                  <a16:creationId xmlns:a16="http://schemas.microsoft.com/office/drawing/2014/main" id="{E41E2F46-13E0-14D4-4E6B-35DFCFC8735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39228" y="136560"/>
              <a:ext cx="450056" cy="43180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1354" y="195247"/>
            <a:ext cx="7859123" cy="56692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016" b="1" dirty="0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项目技术总体设计</a:t>
            </a:r>
            <a:endParaRPr lang="en-US" sz="1440" dirty="0"/>
          </a:p>
        </p:txBody>
      </p:sp>
      <p:sp>
        <p:nvSpPr>
          <p:cNvPr id="3" name="Shape 1"/>
          <p:cNvSpPr/>
          <p:nvPr/>
        </p:nvSpPr>
        <p:spPr>
          <a:xfrm>
            <a:off x="3573332" y="2047055"/>
            <a:ext cx="503278" cy="503278"/>
          </a:xfrm>
          <a:custGeom>
            <a:avLst/>
            <a:gdLst/>
            <a:ahLst/>
            <a:cxnLst/>
            <a:rect l="l" t="t" r="r" b="b"/>
            <a:pathLst>
              <a:path w="503278" h="503278">
                <a:moveTo>
                  <a:pt x="251639" y="0"/>
                </a:moveTo>
                <a:moveTo>
                  <a:pt x="251639" y="0"/>
                </a:moveTo>
                <a:cubicBezTo>
                  <a:pt x="390522" y="0"/>
                  <a:pt x="503278" y="112756"/>
                  <a:pt x="503278" y="251639"/>
                </a:cubicBezTo>
                <a:cubicBezTo>
                  <a:pt x="503278" y="390522"/>
                  <a:pt x="390522" y="503278"/>
                  <a:pt x="251639" y="503278"/>
                </a:cubicBezTo>
                <a:cubicBezTo>
                  <a:pt x="112756" y="503278"/>
                  <a:pt x="0" y="390522"/>
                  <a:pt x="0" y="251639"/>
                </a:cubicBezTo>
                <a:cubicBezTo>
                  <a:pt x="0" y="112756"/>
                  <a:pt x="112756" y="0"/>
                  <a:pt x="251639" y="0"/>
                </a:cubicBezTo>
                <a:close/>
              </a:path>
            </a:pathLst>
          </a:custGeom>
          <a:solidFill>
            <a:srgbClr val="FFC538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4" name="Image 0" descr="https://oceandoc-ai.obs.ap-southeast-3.myhuaweicloud.com/ppt_list_page/_19052329831_LCg0aP1732514685662-0536160787312864.png?authorization=c2ltcGxlLWp3dCBhaz1zcGFya2Rlc2s4MDAwMDAwMDAwMDE7ZXhwPTMzMDkzMTQ2OTQ7YWxnbz1obWFjLXNoYTI1NjtzaWc9T3hwcDhvbUw1WGhtUVRNQ050c1pjQVc1cWxOTWQzT3FCQitYeVFiM1pxVT0=&amp;x_location=7YfmxI7B7uKO7jlRxIftd60XeLD=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6048" y="2149770"/>
            <a:ext cx="297847" cy="29784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573332" y="3031288"/>
            <a:ext cx="503278" cy="503278"/>
          </a:xfrm>
          <a:custGeom>
            <a:avLst/>
            <a:gdLst/>
            <a:ahLst/>
            <a:cxnLst/>
            <a:rect l="l" t="t" r="r" b="b"/>
            <a:pathLst>
              <a:path w="503278" h="503278">
                <a:moveTo>
                  <a:pt x="251639" y="0"/>
                </a:moveTo>
                <a:moveTo>
                  <a:pt x="251639" y="0"/>
                </a:moveTo>
                <a:cubicBezTo>
                  <a:pt x="390522" y="0"/>
                  <a:pt x="503278" y="112756"/>
                  <a:pt x="503278" y="251639"/>
                </a:cubicBezTo>
                <a:cubicBezTo>
                  <a:pt x="503278" y="390522"/>
                  <a:pt x="390522" y="503278"/>
                  <a:pt x="251639" y="503278"/>
                </a:cubicBezTo>
                <a:cubicBezTo>
                  <a:pt x="112756" y="503278"/>
                  <a:pt x="0" y="390522"/>
                  <a:pt x="0" y="251639"/>
                </a:cubicBezTo>
                <a:cubicBezTo>
                  <a:pt x="0" y="112756"/>
                  <a:pt x="112756" y="0"/>
                  <a:pt x="251639" y="0"/>
                </a:cubicBezTo>
                <a:close/>
              </a:path>
            </a:pathLst>
          </a:custGeom>
          <a:solidFill>
            <a:srgbClr val="FE872E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6" name="Image 1" descr="https://oceandoc-ai.obs.ap-southeast-3.myhuaweicloud.com/ppt_list_page/_19052329831_uTDMEZ1732514694176-08056073287339853.png?authorization=c2ltcGxlLWp3dCBhaz1zcGFya2Rlc2s4MDAwMDAwMDAwMDE7ZXhwPTMzMDkzMTQ3MDE7YWxnbz1obWFjLXNoYTI1NjtzaWc9ekxLaW9idTh2eEdNdzVVV0xXSXNsYzJWUFNzaGNESml5ZzJnNUdKZHNKQT0=&amp;x_location=7YfmxI7B7uKO7jlRxIftd60XeLD=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67998" y="3125954"/>
            <a:ext cx="313947" cy="313947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3573332" y="4059393"/>
            <a:ext cx="503278" cy="503278"/>
          </a:xfrm>
          <a:custGeom>
            <a:avLst/>
            <a:gdLst/>
            <a:ahLst/>
            <a:cxnLst/>
            <a:rect l="l" t="t" r="r" b="b"/>
            <a:pathLst>
              <a:path w="503278" h="503278">
                <a:moveTo>
                  <a:pt x="251639" y="0"/>
                </a:moveTo>
                <a:moveTo>
                  <a:pt x="251639" y="0"/>
                </a:moveTo>
                <a:cubicBezTo>
                  <a:pt x="390522" y="0"/>
                  <a:pt x="503278" y="112756"/>
                  <a:pt x="503278" y="251639"/>
                </a:cubicBezTo>
                <a:cubicBezTo>
                  <a:pt x="503278" y="390522"/>
                  <a:pt x="390522" y="503278"/>
                  <a:pt x="251639" y="503278"/>
                </a:cubicBezTo>
                <a:cubicBezTo>
                  <a:pt x="112756" y="503278"/>
                  <a:pt x="0" y="390522"/>
                  <a:pt x="0" y="251639"/>
                </a:cubicBezTo>
                <a:cubicBezTo>
                  <a:pt x="0" y="112756"/>
                  <a:pt x="112756" y="0"/>
                  <a:pt x="251639" y="0"/>
                </a:cubicBezTo>
                <a:close/>
              </a:path>
            </a:pathLst>
          </a:custGeom>
          <a:solidFill>
            <a:srgbClr val="FFC538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8" name="Image 2" descr="https://oceandoc-ai.obs.ap-southeast-3.myhuaweicloud.com/ppt_list_page/_19052329831_y63oFi1732514699286-07869239987903869.png?authorization=c2ltcGxlLWp3dCBhaz1zcGFya2Rlc2s4MDAwMDAwMDAwMDE7ZXhwPTMzMDkzMTQ3MDY7YWxnbz1obWFjLXNoYTI1NjtzaWc9eXd1OXk4NisvcExnV3NOUmVIdHd4RzRKcnJCUkhYM3VxdStpUzJUTVI4RT0=&amp;x_location=7YfmxI7B7uKO7jlRxIftd60XeLD=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80073" y="4166134"/>
            <a:ext cx="289797" cy="289797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3573332" y="1055972"/>
            <a:ext cx="503278" cy="503278"/>
          </a:xfrm>
          <a:custGeom>
            <a:avLst/>
            <a:gdLst/>
            <a:ahLst/>
            <a:cxnLst/>
            <a:rect l="l" t="t" r="r" b="b"/>
            <a:pathLst>
              <a:path w="503278" h="503278">
                <a:moveTo>
                  <a:pt x="251639" y="0"/>
                </a:moveTo>
                <a:moveTo>
                  <a:pt x="251639" y="0"/>
                </a:moveTo>
                <a:cubicBezTo>
                  <a:pt x="390522" y="0"/>
                  <a:pt x="503278" y="112756"/>
                  <a:pt x="503278" y="251639"/>
                </a:cubicBezTo>
                <a:cubicBezTo>
                  <a:pt x="503278" y="390522"/>
                  <a:pt x="390522" y="503278"/>
                  <a:pt x="251639" y="503278"/>
                </a:cubicBezTo>
                <a:cubicBezTo>
                  <a:pt x="112756" y="503278"/>
                  <a:pt x="0" y="390522"/>
                  <a:pt x="0" y="251639"/>
                </a:cubicBezTo>
                <a:cubicBezTo>
                  <a:pt x="0" y="112756"/>
                  <a:pt x="112756" y="0"/>
                  <a:pt x="251639" y="0"/>
                </a:cubicBezTo>
                <a:close/>
              </a:path>
            </a:pathLst>
          </a:custGeom>
          <a:solidFill>
            <a:srgbClr val="FE872E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83401" y="1166041"/>
            <a:ext cx="283140" cy="283140"/>
          </a:xfrm>
          <a:prstGeom prst="rect">
            <a:avLst/>
          </a:prstGeom>
        </p:spPr>
      </p:pic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037" y="363251"/>
            <a:ext cx="3436864" cy="4582485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4121080" y="833510"/>
            <a:ext cx="4765364" cy="3657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FE8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设计原则</a:t>
            </a:r>
            <a:endParaRPr lang="en-US" sz="1440" dirty="0"/>
          </a:p>
        </p:txBody>
      </p:sp>
      <p:sp>
        <p:nvSpPr>
          <p:cNvPr id="13" name="Text 6"/>
          <p:cNvSpPr/>
          <p:nvPr/>
        </p:nvSpPr>
        <p:spPr>
          <a:xfrm>
            <a:off x="4121080" y="1064460"/>
            <a:ext cx="4753729" cy="81381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31429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宠记项目的总体设计原则包括本地优先、轻量高频、智能增强、平台融合和安全可迁移。这些原则确保了应用的高效性、易用性和数据安全性，同时兼顾了多端扩展能力。</a:t>
            </a:r>
            <a:endParaRPr lang="en-US" sz="1440" dirty="0"/>
          </a:p>
        </p:txBody>
      </p:sp>
      <p:sp>
        <p:nvSpPr>
          <p:cNvPr id="14" name="Text 7"/>
          <p:cNvSpPr/>
          <p:nvPr/>
        </p:nvSpPr>
        <p:spPr>
          <a:xfrm>
            <a:off x="4121080" y="1853940"/>
            <a:ext cx="4765364" cy="3657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FE8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技术架构方案</a:t>
            </a:r>
            <a:endParaRPr lang="en-US" sz="1440" dirty="0"/>
          </a:p>
        </p:txBody>
      </p:sp>
      <p:sp>
        <p:nvSpPr>
          <p:cNvPr id="15" name="Text 8"/>
          <p:cNvSpPr/>
          <p:nvPr/>
        </p:nvSpPr>
        <p:spPr>
          <a:xfrm>
            <a:off x="4121080" y="2085746"/>
            <a:ext cx="4753692" cy="60350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31429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宠记的技术架构采用四层设计，分别是表现层、业务层、平台层和数据层。每一层都承担着不同的职责，通过这种分层设计实现了高效的数据处理和用户体验。</a:t>
            </a:r>
            <a:endParaRPr lang="en-US" sz="1440" dirty="0"/>
          </a:p>
        </p:txBody>
      </p:sp>
      <p:sp>
        <p:nvSpPr>
          <p:cNvPr id="16" name="Text 9"/>
          <p:cNvSpPr/>
          <p:nvPr/>
        </p:nvSpPr>
        <p:spPr>
          <a:xfrm>
            <a:off x="4121080" y="2874370"/>
            <a:ext cx="4765364" cy="3657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FE8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关键功能方案设计</a:t>
            </a:r>
            <a:endParaRPr lang="en-US" sz="1440" dirty="0"/>
          </a:p>
        </p:txBody>
      </p:sp>
      <p:sp>
        <p:nvSpPr>
          <p:cNvPr id="17" name="Text 10"/>
          <p:cNvSpPr/>
          <p:nvPr/>
        </p:nvSpPr>
        <p:spPr>
          <a:xfrm>
            <a:off x="4121080" y="3107131"/>
            <a:ext cx="4753692" cy="81381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31429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宠记的关键功能方案包括宠物档案与记录、提醒清单、AI总览、数据备份与恢复以及系统设置。这些功能模块共同构成了完整的宠物健康管理链条，提升了用户的操作效率和满意度。</a:t>
            </a:r>
            <a:endParaRPr lang="en-US" sz="1440" dirty="0"/>
          </a:p>
        </p:txBody>
      </p:sp>
      <p:sp>
        <p:nvSpPr>
          <p:cNvPr id="18" name="Text 11"/>
          <p:cNvSpPr/>
          <p:nvPr/>
        </p:nvSpPr>
        <p:spPr>
          <a:xfrm>
            <a:off x="4121080" y="3894800"/>
            <a:ext cx="4765364" cy="3657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FE8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技术创新点</a:t>
            </a:r>
            <a:endParaRPr lang="en-US" sz="1440" dirty="0"/>
          </a:p>
        </p:txBody>
      </p:sp>
      <p:sp>
        <p:nvSpPr>
          <p:cNvPr id="19" name="Text 12"/>
          <p:cNvSpPr/>
          <p:nvPr/>
        </p:nvSpPr>
        <p:spPr>
          <a:xfrm>
            <a:off x="4121080" y="4128516"/>
            <a:ext cx="4753692" cy="81381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31429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宠记在技术创新方面采用了共享业务架构、AI作为增强层、可迁移的数据治理能力和工程化稳定性补强。这些创新点不仅提高了应用的性能，还增强了用户体验和数据的安全性。</a:t>
            </a:r>
            <a:endParaRPr lang="en-US" sz="1440" dirty="0"/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E25EBED0-8B63-CD3A-E811-690242F7B84A}"/>
              </a:ext>
            </a:extLst>
          </p:cNvPr>
          <p:cNvGrpSpPr/>
          <p:nvPr/>
        </p:nvGrpSpPr>
        <p:grpSpPr>
          <a:xfrm>
            <a:off x="8176160" y="1038"/>
            <a:ext cx="967840" cy="450056"/>
            <a:chOff x="121444" y="118306"/>
            <a:chExt cx="967840" cy="450056"/>
          </a:xfrm>
        </p:grpSpPr>
        <p:pic>
          <p:nvPicPr>
            <p:cNvPr id="21" name="图片 20">
              <a:extLst>
                <a:ext uri="{FF2B5EF4-FFF2-40B4-BE49-F238E27FC236}">
                  <a16:creationId xmlns:a16="http://schemas.microsoft.com/office/drawing/2014/main" id="{87D0BCFD-085B-CE45-50D3-42B9672CFEC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21444" y="118306"/>
              <a:ext cx="450056" cy="450056"/>
            </a:xfrm>
            <a:prstGeom prst="rect">
              <a:avLst/>
            </a:prstGeom>
          </p:spPr>
        </p:pic>
        <p:pic>
          <p:nvPicPr>
            <p:cNvPr id="22" name="图片 21">
              <a:extLst>
                <a:ext uri="{FF2B5EF4-FFF2-40B4-BE49-F238E27FC236}">
                  <a16:creationId xmlns:a16="http://schemas.microsoft.com/office/drawing/2014/main" id="{85858C2F-791B-2412-13BA-011EADFE15F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639228" y="136560"/>
              <a:ext cx="450056" cy="43180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1354" y="195247"/>
            <a:ext cx="7859123" cy="56692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016" b="1" dirty="0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总体设计原则</a:t>
            </a:r>
            <a:endParaRPr lang="en-US" sz="1440" dirty="0"/>
          </a:p>
        </p:txBody>
      </p:sp>
      <p:sp>
        <p:nvSpPr>
          <p:cNvPr id="3" name="Shape 1"/>
          <p:cNvSpPr/>
          <p:nvPr/>
        </p:nvSpPr>
        <p:spPr>
          <a:xfrm>
            <a:off x="4628692" y="1052972"/>
            <a:ext cx="2743200" cy="411480"/>
          </a:xfrm>
          <a:custGeom>
            <a:avLst/>
            <a:gdLst/>
            <a:ahLst/>
            <a:cxnLst/>
            <a:rect l="l" t="t" r="r" b="b"/>
            <a:pathLst>
              <a:path w="2743200" h="411480">
                <a:moveTo>
                  <a:pt x="77553" y="0"/>
                </a:moveTo>
                <a:moveTo>
                  <a:pt x="77553" y="0"/>
                </a:moveTo>
                <a:lnTo>
                  <a:pt x="2665647" y="0"/>
                </a:lnTo>
                <a:quadBezTo>
                  <a:pt x="2743200" y="0"/>
                  <a:pt x="2743200" y="77553"/>
                </a:quadBezTo>
                <a:lnTo>
                  <a:pt x="2743200" y="333927"/>
                </a:lnTo>
                <a:quadBezTo>
                  <a:pt x="2743200" y="411480"/>
                  <a:pt x="2665647" y="411480"/>
                </a:quadBezTo>
                <a:lnTo>
                  <a:pt x="77553" y="411480"/>
                </a:lnTo>
                <a:quadBezTo>
                  <a:pt x="0" y="411480"/>
                  <a:pt x="0" y="333927"/>
                </a:quadBezTo>
                <a:lnTo>
                  <a:pt x="0" y="77553"/>
                </a:lnTo>
                <a:quadBezTo>
                  <a:pt x="0" y="0"/>
                  <a:pt x="77553" y="0"/>
                </a:quadBezTo>
                <a:close/>
              </a:path>
            </a:pathLst>
          </a:custGeom>
          <a:solidFill>
            <a:srgbClr val="FE87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1770249" y="1052972"/>
            <a:ext cx="2743200" cy="411480"/>
          </a:xfrm>
          <a:custGeom>
            <a:avLst/>
            <a:gdLst/>
            <a:ahLst/>
            <a:cxnLst/>
            <a:rect l="l" t="t" r="r" b="b"/>
            <a:pathLst>
              <a:path w="2743200" h="411480">
                <a:moveTo>
                  <a:pt x="77553" y="0"/>
                </a:moveTo>
                <a:moveTo>
                  <a:pt x="77553" y="0"/>
                </a:moveTo>
                <a:lnTo>
                  <a:pt x="2665647" y="0"/>
                </a:lnTo>
                <a:quadBezTo>
                  <a:pt x="2743200" y="0"/>
                  <a:pt x="2743200" y="77553"/>
                </a:quadBezTo>
                <a:lnTo>
                  <a:pt x="2743200" y="333927"/>
                </a:lnTo>
                <a:quadBezTo>
                  <a:pt x="2743200" y="411480"/>
                  <a:pt x="2665647" y="411480"/>
                </a:quadBezTo>
                <a:lnTo>
                  <a:pt x="77553" y="411480"/>
                </a:lnTo>
                <a:quadBezTo>
                  <a:pt x="0" y="411480"/>
                  <a:pt x="0" y="333927"/>
                </a:quadBezTo>
                <a:lnTo>
                  <a:pt x="0" y="77553"/>
                </a:lnTo>
                <a:quadBezTo>
                  <a:pt x="0" y="0"/>
                  <a:pt x="77553" y="0"/>
                </a:quadBezTo>
                <a:close/>
              </a:path>
            </a:pathLst>
          </a:custGeom>
          <a:solidFill>
            <a:srgbClr val="FE87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3199486" y="2852519"/>
            <a:ext cx="2743200" cy="411480"/>
          </a:xfrm>
          <a:custGeom>
            <a:avLst/>
            <a:gdLst/>
            <a:ahLst/>
            <a:cxnLst/>
            <a:rect l="l" t="t" r="r" b="b"/>
            <a:pathLst>
              <a:path w="2743200" h="411480">
                <a:moveTo>
                  <a:pt x="77553" y="0"/>
                </a:moveTo>
                <a:moveTo>
                  <a:pt x="77553" y="0"/>
                </a:moveTo>
                <a:lnTo>
                  <a:pt x="2665647" y="0"/>
                </a:lnTo>
                <a:quadBezTo>
                  <a:pt x="2743200" y="0"/>
                  <a:pt x="2743200" y="77553"/>
                </a:quadBezTo>
                <a:lnTo>
                  <a:pt x="2743200" y="333927"/>
                </a:lnTo>
                <a:quadBezTo>
                  <a:pt x="2743200" y="411480"/>
                  <a:pt x="2665647" y="411480"/>
                </a:quadBezTo>
                <a:lnTo>
                  <a:pt x="77553" y="411480"/>
                </a:lnTo>
                <a:quadBezTo>
                  <a:pt x="0" y="411480"/>
                  <a:pt x="0" y="333927"/>
                </a:quadBezTo>
                <a:lnTo>
                  <a:pt x="0" y="77553"/>
                </a:lnTo>
                <a:quadBezTo>
                  <a:pt x="0" y="0"/>
                  <a:pt x="77553" y="0"/>
                </a:quadBezTo>
                <a:close/>
              </a:path>
            </a:pathLst>
          </a:custGeom>
          <a:solidFill>
            <a:srgbClr val="FE87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342900" y="2852519"/>
            <a:ext cx="2743200" cy="411480"/>
          </a:xfrm>
          <a:custGeom>
            <a:avLst/>
            <a:gdLst/>
            <a:ahLst/>
            <a:cxnLst/>
            <a:rect l="l" t="t" r="r" b="b"/>
            <a:pathLst>
              <a:path w="2743200" h="411480">
                <a:moveTo>
                  <a:pt x="77553" y="0"/>
                </a:moveTo>
                <a:moveTo>
                  <a:pt x="77553" y="0"/>
                </a:moveTo>
                <a:lnTo>
                  <a:pt x="2665647" y="0"/>
                </a:lnTo>
                <a:quadBezTo>
                  <a:pt x="2743200" y="0"/>
                  <a:pt x="2743200" y="77553"/>
                </a:quadBezTo>
                <a:lnTo>
                  <a:pt x="2743200" y="333927"/>
                </a:lnTo>
                <a:quadBezTo>
                  <a:pt x="2743200" y="411480"/>
                  <a:pt x="2665647" y="411480"/>
                </a:quadBezTo>
                <a:lnTo>
                  <a:pt x="77553" y="411480"/>
                </a:lnTo>
                <a:quadBezTo>
                  <a:pt x="0" y="411480"/>
                  <a:pt x="0" y="333927"/>
                </a:quadBezTo>
                <a:lnTo>
                  <a:pt x="0" y="77553"/>
                </a:lnTo>
                <a:quadBezTo>
                  <a:pt x="0" y="0"/>
                  <a:pt x="77553" y="0"/>
                </a:quadBezTo>
                <a:close/>
              </a:path>
            </a:pathLst>
          </a:custGeom>
          <a:solidFill>
            <a:srgbClr val="FE87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6056071" y="2852519"/>
            <a:ext cx="2743200" cy="411480"/>
          </a:xfrm>
          <a:custGeom>
            <a:avLst/>
            <a:gdLst/>
            <a:ahLst/>
            <a:cxnLst/>
            <a:rect l="l" t="t" r="r" b="b"/>
            <a:pathLst>
              <a:path w="2743200" h="411480">
                <a:moveTo>
                  <a:pt x="77553" y="0"/>
                </a:moveTo>
                <a:moveTo>
                  <a:pt x="77553" y="0"/>
                </a:moveTo>
                <a:lnTo>
                  <a:pt x="2665647" y="0"/>
                </a:lnTo>
                <a:quadBezTo>
                  <a:pt x="2743200" y="0"/>
                  <a:pt x="2743200" y="77553"/>
                </a:quadBezTo>
                <a:lnTo>
                  <a:pt x="2743200" y="333927"/>
                </a:lnTo>
                <a:quadBezTo>
                  <a:pt x="2743200" y="411480"/>
                  <a:pt x="2665647" y="411480"/>
                </a:quadBezTo>
                <a:lnTo>
                  <a:pt x="77553" y="411480"/>
                </a:lnTo>
                <a:quadBezTo>
                  <a:pt x="0" y="411480"/>
                  <a:pt x="0" y="333927"/>
                </a:quadBezTo>
                <a:lnTo>
                  <a:pt x="0" y="77553"/>
                </a:lnTo>
                <a:quadBezTo>
                  <a:pt x="0" y="0"/>
                  <a:pt x="77553" y="0"/>
                </a:quadBezTo>
                <a:close/>
              </a:path>
            </a:pathLst>
          </a:custGeom>
          <a:solidFill>
            <a:srgbClr val="FE87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770249" y="1035160"/>
            <a:ext cx="2742887" cy="44710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 algn="ctr">
              <a:lnSpc>
                <a:spcPct val="115000"/>
              </a:lnSpc>
              <a:spcBef>
                <a:spcPts val="360"/>
              </a:spcBef>
              <a:buNone/>
            </a:pPr>
            <a:r>
              <a:rPr lang="en-US" sz="1152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本地优先</a:t>
            </a:r>
            <a:endParaRPr lang="en-US" sz="1440" dirty="0"/>
          </a:p>
        </p:txBody>
      </p:sp>
      <p:sp>
        <p:nvSpPr>
          <p:cNvPr id="9" name="Text 7"/>
          <p:cNvSpPr/>
          <p:nvPr/>
        </p:nvSpPr>
        <p:spPr>
          <a:xfrm>
            <a:off x="1770249" y="1451030"/>
            <a:ext cx="2681653" cy="12801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ctr">
              <a:lnSpc>
                <a:spcPct val="160000"/>
              </a:lnSpc>
              <a:spcBef>
                <a:spcPts val="360"/>
              </a:spcBef>
              <a:buNone/>
            </a:pPr>
            <a:r>
              <a:rPr lang="en-US" sz="864" dirty="0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宠记项目的核心设计原则是本地优先，确保所有基础信息、数据记录和设置均可在本地完成管理。这种方式不仅提高了用户的隐私安全，还保证了即使在没有网络的情况下，用户依然能够使用大部分功能。</a:t>
            </a:r>
            <a:endParaRPr lang="en-US" sz="1440" dirty="0"/>
          </a:p>
        </p:txBody>
      </p:sp>
      <p:sp>
        <p:nvSpPr>
          <p:cNvPr id="10" name="Text 8"/>
          <p:cNvSpPr/>
          <p:nvPr/>
        </p:nvSpPr>
        <p:spPr>
          <a:xfrm>
            <a:off x="4628692" y="1035141"/>
            <a:ext cx="2743200" cy="44714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 algn="ctr">
              <a:lnSpc>
                <a:spcPct val="115000"/>
              </a:lnSpc>
              <a:spcBef>
                <a:spcPts val="360"/>
              </a:spcBef>
              <a:buNone/>
            </a:pPr>
            <a:r>
              <a:rPr lang="en-US" sz="1152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轻量高频</a:t>
            </a:r>
            <a:endParaRPr lang="en-US" sz="1440" dirty="0"/>
          </a:p>
        </p:txBody>
      </p:sp>
      <p:sp>
        <p:nvSpPr>
          <p:cNvPr id="11" name="Text 9"/>
          <p:cNvSpPr/>
          <p:nvPr/>
        </p:nvSpPr>
        <p:spPr>
          <a:xfrm>
            <a:off x="4628693" y="1451153"/>
            <a:ext cx="2681935" cy="106070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ctr">
              <a:lnSpc>
                <a:spcPct val="160000"/>
              </a:lnSpc>
              <a:spcBef>
                <a:spcPts val="360"/>
              </a:spcBef>
              <a:buNone/>
            </a:pPr>
            <a:r>
              <a:rPr lang="en-US" sz="864" dirty="0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页面结构设计以日常养宠的高频动作为重点，避免复杂的操作。通过简化用户界面和优化操作流程，宠记能够在保证用户体验的同时，实现快速高效的数据处理和记录管理。</a:t>
            </a:r>
            <a:endParaRPr lang="en-US" sz="1440" dirty="0"/>
          </a:p>
        </p:txBody>
      </p:sp>
      <p:sp>
        <p:nvSpPr>
          <p:cNvPr id="12" name="Text 10"/>
          <p:cNvSpPr/>
          <p:nvPr/>
        </p:nvSpPr>
        <p:spPr>
          <a:xfrm>
            <a:off x="342791" y="2834707"/>
            <a:ext cx="2742887" cy="44710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 algn="ctr">
              <a:lnSpc>
                <a:spcPct val="115000"/>
              </a:lnSpc>
              <a:spcBef>
                <a:spcPts val="360"/>
              </a:spcBef>
              <a:buNone/>
            </a:pPr>
            <a:r>
              <a:rPr lang="en-US" sz="1152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智能增强</a:t>
            </a:r>
            <a:endParaRPr lang="en-US" sz="1440" dirty="0"/>
          </a:p>
        </p:txBody>
      </p:sp>
      <p:sp>
        <p:nvSpPr>
          <p:cNvPr id="13" name="Text 11"/>
          <p:cNvSpPr/>
          <p:nvPr/>
        </p:nvSpPr>
        <p:spPr>
          <a:xfrm>
            <a:off x="342791" y="3250585"/>
            <a:ext cx="2681653" cy="106070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ctr">
              <a:lnSpc>
                <a:spcPct val="160000"/>
              </a:lnSpc>
              <a:spcBef>
                <a:spcPts val="360"/>
              </a:spcBef>
              <a:buNone/>
            </a:pPr>
            <a:r>
              <a:rPr lang="en-US" sz="864" dirty="0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AI模块仅作为增强层，用于对历史数据进行摘要归纳、异常提示和照护建议生成。这种设计避免了产品价值过度依赖网络服务，确保了在断网情况下的基本功能不受影响。</a:t>
            </a:r>
            <a:endParaRPr lang="en-US" sz="1440" dirty="0"/>
          </a:p>
        </p:txBody>
      </p:sp>
      <p:sp>
        <p:nvSpPr>
          <p:cNvPr id="14" name="Text 12"/>
          <p:cNvSpPr/>
          <p:nvPr/>
        </p:nvSpPr>
        <p:spPr>
          <a:xfrm>
            <a:off x="3197657" y="2834689"/>
            <a:ext cx="2743200" cy="44714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 algn="ctr">
              <a:lnSpc>
                <a:spcPct val="115000"/>
              </a:lnSpc>
              <a:spcBef>
                <a:spcPts val="360"/>
              </a:spcBef>
              <a:buNone/>
            </a:pPr>
            <a:r>
              <a:rPr lang="en-US" sz="1152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平台融合</a:t>
            </a:r>
            <a:endParaRPr lang="en-US" sz="1440" dirty="0"/>
          </a:p>
        </p:txBody>
      </p:sp>
      <p:sp>
        <p:nvSpPr>
          <p:cNvPr id="15" name="Text 13"/>
          <p:cNvSpPr/>
          <p:nvPr/>
        </p:nvSpPr>
        <p:spPr>
          <a:xfrm>
            <a:off x="3199471" y="3250585"/>
            <a:ext cx="2681653" cy="106070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ctr">
              <a:lnSpc>
                <a:spcPct val="160000"/>
              </a:lnSpc>
              <a:spcBef>
                <a:spcPts val="360"/>
              </a:spcBef>
              <a:buNone/>
            </a:pPr>
            <a:r>
              <a:rPr lang="en-US" sz="864" dirty="0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宠记项目采用共享业务代码，结合 Harmony 原生能力桥接，兼顾开发效率和平台特色。通过这种设计，项目能够在多端设备上提供一致的使用体验，同时利用华为 HarmonyOS 平台的底层能力。</a:t>
            </a:r>
            <a:endParaRPr lang="en-US" sz="1440" dirty="0"/>
          </a:p>
        </p:txBody>
      </p:sp>
      <p:sp>
        <p:nvSpPr>
          <p:cNvPr id="16" name="Text 14"/>
          <p:cNvSpPr/>
          <p:nvPr/>
        </p:nvSpPr>
        <p:spPr>
          <a:xfrm>
            <a:off x="6058585" y="2834707"/>
            <a:ext cx="2742623" cy="44710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 algn="ctr">
              <a:lnSpc>
                <a:spcPct val="115000"/>
              </a:lnSpc>
              <a:spcBef>
                <a:spcPts val="360"/>
              </a:spcBef>
              <a:buNone/>
            </a:pPr>
            <a:r>
              <a:rPr lang="en-US" sz="1152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安全可迁移</a:t>
            </a:r>
            <a:endParaRPr lang="en-US" sz="1440" dirty="0"/>
          </a:p>
        </p:txBody>
      </p:sp>
      <p:sp>
        <p:nvSpPr>
          <p:cNvPr id="17" name="Text 15"/>
          <p:cNvSpPr/>
          <p:nvPr/>
        </p:nvSpPr>
        <p:spPr>
          <a:xfrm>
            <a:off x="6056150" y="3250585"/>
            <a:ext cx="2681653" cy="106070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ctr">
              <a:lnSpc>
                <a:spcPct val="160000"/>
              </a:lnSpc>
              <a:spcBef>
                <a:spcPts val="360"/>
              </a:spcBef>
              <a:buNone/>
            </a:pPr>
            <a:r>
              <a:rPr lang="en-US" sz="864" dirty="0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宠记项目设计了标准化的数据导出、导入和恢复机制，包括快照保护功能。这些措施确保了用户在更换设备或误删数据的情况下，能够轻松恢复资料，保障了用户的数据自主权和长期可控性。</a:t>
            </a:r>
            <a:endParaRPr lang="en-US" sz="1440" dirty="0"/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47233EBB-3921-24D3-DEDA-9FC1747DD8BE}"/>
              </a:ext>
            </a:extLst>
          </p:cNvPr>
          <p:cNvGrpSpPr/>
          <p:nvPr/>
        </p:nvGrpSpPr>
        <p:grpSpPr>
          <a:xfrm>
            <a:off x="8176160" y="1038"/>
            <a:ext cx="967840" cy="450056"/>
            <a:chOff x="121444" y="118306"/>
            <a:chExt cx="967840" cy="450056"/>
          </a:xfrm>
        </p:grpSpPr>
        <p:pic>
          <p:nvPicPr>
            <p:cNvPr id="19" name="图片 18">
              <a:extLst>
                <a:ext uri="{FF2B5EF4-FFF2-40B4-BE49-F238E27FC236}">
                  <a16:creationId xmlns:a16="http://schemas.microsoft.com/office/drawing/2014/main" id="{A5633820-4869-1EED-3FDB-3751CAC9B27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1444" y="118306"/>
              <a:ext cx="450056" cy="450056"/>
            </a:xfrm>
            <a:prstGeom prst="rect">
              <a:avLst/>
            </a:prstGeom>
          </p:spPr>
        </p:pic>
        <p:pic>
          <p:nvPicPr>
            <p:cNvPr id="20" name="图片 19">
              <a:extLst>
                <a:ext uri="{FF2B5EF4-FFF2-40B4-BE49-F238E27FC236}">
                  <a16:creationId xmlns:a16="http://schemas.microsoft.com/office/drawing/2014/main" id="{59D7D7DE-3F9F-067C-ECA1-355016F46E0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39228" y="136560"/>
              <a:ext cx="450056" cy="43180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1354" y="195247"/>
            <a:ext cx="7859123" cy="56692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016" b="1" dirty="0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创新特色</a:t>
            </a:r>
            <a:endParaRPr lang="en-US" sz="144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4678070" y="2572207"/>
            <a:ext cx="4079970" cy="1430189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960" y="1334533"/>
            <a:ext cx="4079970" cy="1430189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4582396" y="1340510"/>
            <a:ext cx="45720" cy="3802544"/>
          </a:xfrm>
          <a:custGeom>
            <a:avLst/>
            <a:gdLst/>
            <a:ahLst/>
            <a:cxnLst/>
            <a:rect l="l" t="t" r="r" b="b"/>
            <a:pathLst>
              <a:path w="45720" h="3802544">
                <a:moveTo>
                  <a:pt x="0" y="0"/>
                </a:moveTo>
                <a:moveTo>
                  <a:pt x="0" y="0"/>
                </a:moveTo>
                <a:lnTo>
                  <a:pt x="0" y="3802544"/>
                </a:lnTo>
              </a:path>
            </a:pathLst>
          </a:custGeom>
          <a:noFill/>
          <a:ln w="19050">
            <a:solidFill>
              <a:srgbClr val="E1E1E1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2"/>
          <p:cNvSpPr/>
          <p:nvPr/>
        </p:nvSpPr>
        <p:spPr>
          <a:xfrm>
            <a:off x="4490956" y="1318664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FE872E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960" y="3401998"/>
            <a:ext cx="4079970" cy="1430189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4490956" y="2304856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FFC53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Shape 4"/>
          <p:cNvSpPr/>
          <p:nvPr/>
        </p:nvSpPr>
        <p:spPr>
          <a:xfrm>
            <a:off x="4490956" y="3249659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FE87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5"/>
          <p:cNvSpPr/>
          <p:nvPr/>
        </p:nvSpPr>
        <p:spPr>
          <a:xfrm>
            <a:off x="511111" y="867721"/>
            <a:ext cx="3361444" cy="460087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b"/>
          <a:lstStyle/>
          <a:p>
            <a:pPr marL="0" indent="0" algn="r">
              <a:lnSpc>
                <a:spcPct val="100000"/>
              </a:lnSpc>
              <a:spcBef>
                <a:spcPts val="360"/>
              </a:spcBef>
              <a:buNone/>
            </a:pPr>
            <a:r>
              <a:rPr lang="en-US" b="1" dirty="0">
                <a:solidFill>
                  <a:srgbClr val="FE8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本地优先轻量高频</a:t>
            </a:r>
            <a:endParaRPr lang="en-US" dirty="0"/>
          </a:p>
        </p:txBody>
      </p:sp>
      <p:sp>
        <p:nvSpPr>
          <p:cNvPr id="11" name="Text 6"/>
          <p:cNvSpPr/>
          <p:nvPr/>
        </p:nvSpPr>
        <p:spPr>
          <a:xfrm>
            <a:off x="511111" y="1528117"/>
            <a:ext cx="3361444" cy="102412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>
              <a:lnSpc>
                <a:spcPct val="131429"/>
              </a:lnSpc>
              <a:spcBef>
                <a:spcPts val="360"/>
              </a:spcBef>
              <a:buNone/>
            </a:pPr>
            <a:endParaRPr lang="en-US" sz="1440" dirty="0"/>
          </a:p>
        </p:txBody>
      </p:sp>
      <p:sp>
        <p:nvSpPr>
          <p:cNvPr id="12" name="Text 7"/>
          <p:cNvSpPr/>
          <p:nvPr/>
        </p:nvSpPr>
        <p:spPr>
          <a:xfrm>
            <a:off x="5198169" y="2112120"/>
            <a:ext cx="3351276" cy="460087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b"/>
          <a:lstStyle/>
          <a:p>
            <a:pPr marL="0" indent="0">
              <a:lnSpc>
                <a:spcPct val="100000"/>
              </a:lnSpc>
              <a:spcBef>
                <a:spcPts val="360"/>
              </a:spcBef>
              <a:buNone/>
            </a:pPr>
            <a:r>
              <a:rPr lang="en-US" b="1" dirty="0">
                <a:solidFill>
                  <a:srgbClr val="FFC5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多场景应用</a:t>
            </a:r>
            <a:endParaRPr lang="en-US" dirty="0"/>
          </a:p>
        </p:txBody>
      </p:sp>
      <p:sp>
        <p:nvSpPr>
          <p:cNvPr id="13" name="Text 8"/>
          <p:cNvSpPr/>
          <p:nvPr/>
        </p:nvSpPr>
        <p:spPr>
          <a:xfrm>
            <a:off x="5198169" y="2737595"/>
            <a:ext cx="3351276" cy="102412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>
              <a:lnSpc>
                <a:spcPct val="131429"/>
              </a:lnSpc>
              <a:spcBef>
                <a:spcPts val="360"/>
              </a:spcBef>
              <a:buNone/>
            </a:pPr>
            <a:endParaRPr lang="en-US" sz="1440" dirty="0"/>
          </a:p>
        </p:txBody>
      </p:sp>
      <p:sp>
        <p:nvSpPr>
          <p:cNvPr id="14" name="Text 9"/>
          <p:cNvSpPr/>
          <p:nvPr/>
        </p:nvSpPr>
        <p:spPr>
          <a:xfrm>
            <a:off x="511111" y="2941911"/>
            <a:ext cx="3351708" cy="460087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b"/>
          <a:lstStyle/>
          <a:p>
            <a:pPr marL="0" indent="0" algn="r">
              <a:lnSpc>
                <a:spcPct val="100000"/>
              </a:lnSpc>
              <a:spcBef>
                <a:spcPts val="360"/>
              </a:spcBef>
              <a:buNone/>
            </a:pPr>
            <a:r>
              <a:rPr lang="en-US" b="1" dirty="0">
                <a:solidFill>
                  <a:srgbClr val="FE8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跨平台兼容性</a:t>
            </a:r>
            <a:endParaRPr lang="en-US" dirty="0"/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F8E00EF4-161D-4219-B361-7FC222334672}"/>
              </a:ext>
            </a:extLst>
          </p:cNvPr>
          <p:cNvGrpSpPr/>
          <p:nvPr/>
        </p:nvGrpSpPr>
        <p:grpSpPr>
          <a:xfrm>
            <a:off x="8176160" y="46868"/>
            <a:ext cx="967840" cy="450056"/>
            <a:chOff x="121444" y="118306"/>
            <a:chExt cx="967840" cy="450056"/>
          </a:xfrm>
        </p:grpSpPr>
        <p:pic>
          <p:nvPicPr>
            <p:cNvPr id="17" name="图片 16">
              <a:extLst>
                <a:ext uri="{FF2B5EF4-FFF2-40B4-BE49-F238E27FC236}">
                  <a16:creationId xmlns:a16="http://schemas.microsoft.com/office/drawing/2014/main" id="{7E5259E2-23E1-0383-0CBB-4E9A4279FF8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21444" y="118306"/>
              <a:ext cx="450056" cy="450056"/>
            </a:xfrm>
            <a:prstGeom prst="rect">
              <a:avLst/>
            </a:prstGeom>
          </p:spPr>
        </p:pic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9E51A816-1A61-6E7F-0871-15F8CE6EB8C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39228" y="136560"/>
              <a:ext cx="450056" cy="431802"/>
            </a:xfrm>
            <a:prstGeom prst="rect">
              <a:avLst/>
            </a:prstGeom>
          </p:spPr>
        </p:pic>
      </p:grpSp>
      <p:pic>
        <p:nvPicPr>
          <p:cNvPr id="20" name="图片 19">
            <a:extLst>
              <a:ext uri="{FF2B5EF4-FFF2-40B4-BE49-F238E27FC236}">
                <a16:creationId xmlns:a16="http://schemas.microsoft.com/office/drawing/2014/main" id="{E9246EAB-A9DA-DD20-D3F3-F14AA2D3BEF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64308" y="376929"/>
            <a:ext cx="3476268" cy="1954605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D9C5DE0E-0DCF-EBCA-827C-8950FE8A11F2}"/>
              </a:ext>
            </a:extLst>
          </p:cNvPr>
          <p:cNvSpPr txBox="1"/>
          <p:nvPr/>
        </p:nvSpPr>
        <p:spPr>
          <a:xfrm>
            <a:off x="511111" y="1536617"/>
            <a:ext cx="350940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本地离线安全存储宠物全量数据，隐私独立可控。全事项智能周期提醒，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 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离线健康分析，无需强依赖网络，轻量化高频流畅使用</a:t>
            </a:r>
            <a:r>
              <a:rPr lang="zh-CN" altLang="en-US" sz="1600" dirty="0">
                <a:solidFill>
                  <a:schemeClr val="bg1"/>
                </a:solidFill>
              </a:rPr>
              <a:t>。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4CC73A1-DE93-B275-ACB6-0FDE0FFD4AE0}"/>
              </a:ext>
            </a:extLst>
          </p:cNvPr>
          <p:cNvSpPr txBox="1"/>
          <p:nvPr/>
        </p:nvSpPr>
        <p:spPr>
          <a:xfrm>
            <a:off x="5198169" y="2737595"/>
            <a:ext cx="350940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以鸿蒙系统为核心，全面兼容安卓、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iOS 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多终端。原生能力互通桥接，跨设备数据无缝流转，多端使用体验统一稳定。</a:t>
            </a:r>
          </a:p>
        </p:txBody>
      </p:sp>
      <p:sp>
        <p:nvSpPr>
          <p:cNvPr id="24" name="文本框 21">
            <a:extLst>
              <a:ext uri="{FF2B5EF4-FFF2-40B4-BE49-F238E27FC236}">
                <a16:creationId xmlns:a16="http://schemas.microsoft.com/office/drawing/2014/main" id="{D4CC73A1-DE93-B275-ACB6-0FDE0FFD4AE0}"/>
              </a:ext>
            </a:extLst>
          </p:cNvPr>
          <p:cNvSpPr txBox="1"/>
          <p:nvPr/>
        </p:nvSpPr>
        <p:spPr>
          <a:xfrm>
            <a:off x="460646" y="3673935"/>
            <a:ext cx="350940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覆盖家庭养宠、家庭协同、繁育门店、医院建档全场景。支持标准化备份恢复，便捷换机迁移，牢牢掌控长期宠物档案数据。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1354" y="195247"/>
            <a:ext cx="7859123" cy="56692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016" b="1" dirty="0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已解决的问题</a:t>
            </a:r>
            <a:endParaRPr lang="en-US" sz="144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>
            <a:alphaModFix amt="10000"/>
          </a:blip>
          <a:stretch>
            <a:fillRect/>
          </a:stretch>
        </p:blipFill>
        <p:spPr>
          <a:xfrm>
            <a:off x="767469" y="954956"/>
            <a:ext cx="5840516" cy="74145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46064" y="952474"/>
            <a:ext cx="2116701" cy="746413"/>
          </a:xfrm>
          <a:custGeom>
            <a:avLst/>
            <a:gdLst/>
            <a:ahLst/>
            <a:cxnLst/>
            <a:rect l="l" t="t" r="r" b="b"/>
            <a:pathLst>
              <a:path w="2116701" h="746413">
                <a:moveTo>
                  <a:pt x="100759" y="0"/>
                </a:moveTo>
                <a:moveTo>
                  <a:pt x="100759" y="0"/>
                </a:moveTo>
                <a:lnTo>
                  <a:pt x="2015942" y="0"/>
                </a:lnTo>
                <a:quadBezTo>
                  <a:pt x="2116701" y="0"/>
                  <a:pt x="2116701" y="93302"/>
                </a:quadBezTo>
                <a:lnTo>
                  <a:pt x="2116701" y="653112"/>
                </a:lnTo>
                <a:quadBezTo>
                  <a:pt x="2116701" y="746413"/>
                  <a:pt x="2015942" y="746413"/>
                </a:quadBezTo>
                <a:lnTo>
                  <a:pt x="100759" y="746413"/>
                </a:lnTo>
                <a:quadBezTo>
                  <a:pt x="0" y="746413"/>
                  <a:pt x="0" y="653112"/>
                </a:quadBezTo>
                <a:lnTo>
                  <a:pt x="0" y="93302"/>
                </a:lnTo>
                <a:quadBezTo>
                  <a:pt x="0" y="0"/>
                  <a:pt x="100759" y="0"/>
                </a:quadBezTo>
                <a:close/>
              </a:path>
            </a:pathLst>
          </a:custGeom>
          <a:solidFill>
            <a:srgbClr val="FE872E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5">
            <a:alphaModFix amt="10000"/>
          </a:blip>
          <a:stretch>
            <a:fillRect/>
          </a:stretch>
        </p:blipFill>
        <p:spPr>
          <a:xfrm>
            <a:off x="767498" y="1935830"/>
            <a:ext cx="5827117" cy="74615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246102" y="1935830"/>
            <a:ext cx="2117023" cy="746150"/>
          </a:xfrm>
          <a:custGeom>
            <a:avLst/>
            <a:gdLst/>
            <a:ahLst/>
            <a:cxnLst/>
            <a:rect l="l" t="t" r="r" b="b"/>
            <a:pathLst>
              <a:path w="2117023" h="746150">
                <a:moveTo>
                  <a:pt x="123746" y="0"/>
                </a:moveTo>
                <a:moveTo>
                  <a:pt x="123746" y="0"/>
                </a:moveTo>
                <a:lnTo>
                  <a:pt x="1993277" y="0"/>
                </a:lnTo>
                <a:quadBezTo>
                  <a:pt x="2117023" y="0"/>
                  <a:pt x="2117023" y="93269"/>
                </a:quadBezTo>
                <a:lnTo>
                  <a:pt x="2117023" y="652882"/>
                </a:lnTo>
                <a:quadBezTo>
                  <a:pt x="2117023" y="746150"/>
                  <a:pt x="1993277" y="746150"/>
                </a:quadBezTo>
                <a:lnTo>
                  <a:pt x="123746" y="746150"/>
                </a:lnTo>
                <a:quadBezTo>
                  <a:pt x="0" y="746150"/>
                  <a:pt x="0" y="652882"/>
                </a:quadBezTo>
                <a:lnTo>
                  <a:pt x="0" y="93269"/>
                </a:lnTo>
                <a:quadBezTo>
                  <a:pt x="0" y="0"/>
                  <a:pt x="123746" y="0"/>
                </a:quadBezTo>
                <a:close/>
              </a:path>
            </a:pathLst>
          </a:custGeom>
          <a:solidFill>
            <a:srgbClr val="FFC538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6">
            <a:alphaModFix amt="10000"/>
          </a:blip>
          <a:stretch>
            <a:fillRect/>
          </a:stretch>
        </p:blipFill>
        <p:spPr>
          <a:xfrm>
            <a:off x="767469" y="2919011"/>
            <a:ext cx="5827117" cy="74615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246064" y="2919011"/>
            <a:ext cx="2117023" cy="746150"/>
          </a:xfrm>
          <a:custGeom>
            <a:avLst/>
            <a:gdLst/>
            <a:ahLst/>
            <a:cxnLst/>
            <a:rect l="l" t="t" r="r" b="b"/>
            <a:pathLst>
              <a:path w="2117023" h="746150">
                <a:moveTo>
                  <a:pt x="123746" y="0"/>
                </a:moveTo>
                <a:moveTo>
                  <a:pt x="123746" y="0"/>
                </a:moveTo>
                <a:lnTo>
                  <a:pt x="1993277" y="0"/>
                </a:lnTo>
                <a:quadBezTo>
                  <a:pt x="2117023" y="0"/>
                  <a:pt x="2117023" y="93269"/>
                </a:quadBezTo>
                <a:lnTo>
                  <a:pt x="2117023" y="652882"/>
                </a:lnTo>
                <a:quadBezTo>
                  <a:pt x="2117023" y="746150"/>
                  <a:pt x="1993277" y="746150"/>
                </a:quadBezTo>
                <a:lnTo>
                  <a:pt x="123746" y="746150"/>
                </a:lnTo>
                <a:quadBezTo>
                  <a:pt x="0" y="746150"/>
                  <a:pt x="0" y="652882"/>
                </a:quadBezTo>
                <a:lnTo>
                  <a:pt x="0" y="93269"/>
                </a:lnTo>
                <a:quadBezTo>
                  <a:pt x="0" y="0"/>
                  <a:pt x="123746" y="0"/>
                </a:quadBezTo>
                <a:close/>
              </a:path>
            </a:pathLst>
          </a:custGeom>
          <a:solidFill>
            <a:srgbClr val="FE872E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5">
            <a:alphaModFix amt="10000"/>
          </a:blip>
          <a:stretch>
            <a:fillRect/>
          </a:stretch>
        </p:blipFill>
        <p:spPr>
          <a:xfrm>
            <a:off x="767469" y="3906887"/>
            <a:ext cx="5827117" cy="746150"/>
          </a:xfrm>
          <a:prstGeom prst="rect">
            <a:avLst/>
          </a:prstGeom>
        </p:spPr>
      </p:pic>
      <p:sp>
        <p:nvSpPr>
          <p:cNvPr id="10" name="Shape 4"/>
          <p:cNvSpPr/>
          <p:nvPr/>
        </p:nvSpPr>
        <p:spPr>
          <a:xfrm>
            <a:off x="246064" y="3906887"/>
            <a:ext cx="2117023" cy="746150"/>
          </a:xfrm>
          <a:custGeom>
            <a:avLst/>
            <a:gdLst/>
            <a:ahLst/>
            <a:cxnLst/>
            <a:rect l="l" t="t" r="r" b="b"/>
            <a:pathLst>
              <a:path w="2117023" h="746150">
                <a:moveTo>
                  <a:pt x="123746" y="0"/>
                </a:moveTo>
                <a:moveTo>
                  <a:pt x="123746" y="0"/>
                </a:moveTo>
                <a:lnTo>
                  <a:pt x="1993277" y="0"/>
                </a:lnTo>
                <a:quadBezTo>
                  <a:pt x="2117023" y="0"/>
                  <a:pt x="2117023" y="93269"/>
                </a:quadBezTo>
                <a:lnTo>
                  <a:pt x="2117023" y="652882"/>
                </a:lnTo>
                <a:quadBezTo>
                  <a:pt x="2117023" y="746150"/>
                  <a:pt x="1993277" y="746150"/>
                </a:quadBezTo>
                <a:lnTo>
                  <a:pt x="123746" y="746150"/>
                </a:lnTo>
                <a:quadBezTo>
                  <a:pt x="0" y="746150"/>
                  <a:pt x="0" y="652882"/>
                </a:quadBezTo>
                <a:lnTo>
                  <a:pt x="0" y="93269"/>
                </a:lnTo>
                <a:quadBezTo>
                  <a:pt x="0" y="0"/>
                  <a:pt x="123746" y="0"/>
                </a:quadBezTo>
                <a:close/>
              </a:path>
            </a:pathLst>
          </a:custGeom>
          <a:solidFill>
            <a:srgbClr val="FFC53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5"/>
          <p:cNvSpPr/>
          <p:nvPr/>
        </p:nvSpPr>
        <p:spPr>
          <a:xfrm>
            <a:off x="302803" y="955349"/>
            <a:ext cx="2052374" cy="7406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 algn="ctr">
              <a:lnSpc>
                <a:spcPct val="106667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信息来源分散问题</a:t>
            </a:r>
            <a:endParaRPr lang="en-US" sz="1440" dirty="0"/>
          </a:p>
        </p:txBody>
      </p:sp>
      <p:sp>
        <p:nvSpPr>
          <p:cNvPr id="13" name="Text 6"/>
          <p:cNvSpPr/>
          <p:nvPr/>
        </p:nvSpPr>
        <p:spPr>
          <a:xfrm>
            <a:off x="2455479" y="1023929"/>
            <a:ext cx="3958942" cy="60350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宠记统一归集宠物档案、养护提醒与健康数据，根治信息零散碎片化痛点，助力健康记录长期连贯沉淀，保障宠物全周期数据完整统一。</a:t>
            </a:r>
          </a:p>
        </p:txBody>
      </p:sp>
      <p:sp>
        <p:nvSpPr>
          <p:cNvPr id="14" name="Text 7"/>
          <p:cNvSpPr/>
          <p:nvPr/>
        </p:nvSpPr>
        <p:spPr>
          <a:xfrm>
            <a:off x="290932" y="1934001"/>
            <a:ext cx="2064245" cy="74980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 algn="ctr">
              <a:lnSpc>
                <a:spcPct val="106667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事项提醒不稳定问题</a:t>
            </a:r>
            <a:endParaRPr lang="en-US" sz="1440" dirty="0"/>
          </a:p>
        </p:txBody>
      </p:sp>
      <p:sp>
        <p:nvSpPr>
          <p:cNvPr id="15" name="Text 8"/>
          <p:cNvSpPr/>
          <p:nvPr/>
        </p:nvSpPr>
        <p:spPr>
          <a:xfrm>
            <a:off x="2455792" y="2007153"/>
            <a:ext cx="3958942" cy="60350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>
              <a:lnSpc>
                <a:spcPct val="131429"/>
              </a:lnSpc>
              <a:spcBef>
                <a:spcPts val="360"/>
              </a:spcBef>
            </a:pP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宠记搭建稳定全周期提醒体系，规范化管理养护待办，杜绝漏用药、漏复诊、漏驱虫等问题，保障宠物关键养护事项按时完成</a:t>
            </a:r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sz="144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Text 9"/>
          <p:cNvSpPr/>
          <p:nvPr/>
        </p:nvSpPr>
        <p:spPr>
          <a:xfrm>
            <a:off x="279062" y="2917182"/>
            <a:ext cx="2076115" cy="74980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 algn="ctr">
              <a:lnSpc>
                <a:spcPct val="106667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缺乏快速归纳能力问题</a:t>
            </a:r>
            <a:endParaRPr lang="en-US" sz="1440" dirty="0"/>
          </a:p>
        </p:txBody>
      </p:sp>
      <p:sp>
        <p:nvSpPr>
          <p:cNvPr id="17" name="Text 10"/>
          <p:cNvSpPr/>
          <p:nvPr/>
        </p:nvSpPr>
        <p:spPr>
          <a:xfrm>
            <a:off x="2455479" y="2990334"/>
            <a:ext cx="3958942" cy="60350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 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智能梳理宠物长期健康数据，自动识别体重、排泄、行为异常隐患，归纳养护重点，助力用户提前规避健康风险。</a:t>
            </a:r>
          </a:p>
        </p:txBody>
      </p:sp>
      <p:sp>
        <p:nvSpPr>
          <p:cNvPr id="18" name="Text 11"/>
          <p:cNvSpPr/>
          <p:nvPr/>
        </p:nvSpPr>
        <p:spPr>
          <a:xfrm>
            <a:off x="249386" y="3909631"/>
            <a:ext cx="2136653" cy="7406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 algn="ctr">
              <a:lnSpc>
                <a:spcPct val="106667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数据迁移成本高问题</a:t>
            </a:r>
            <a:endParaRPr lang="en-US" sz="1440" dirty="0"/>
          </a:p>
        </p:txBody>
      </p:sp>
      <p:sp>
        <p:nvSpPr>
          <p:cNvPr id="19" name="Text 12"/>
          <p:cNvSpPr/>
          <p:nvPr/>
        </p:nvSpPr>
        <p:spPr>
          <a:xfrm>
            <a:off x="2455479" y="3978211"/>
            <a:ext cx="3958942" cy="60350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>
              <a:lnSpc>
                <a:spcPct val="131429"/>
              </a:lnSpc>
              <a:spcBef>
                <a:spcPts val="360"/>
              </a:spcBef>
            </a:pP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宠记搭载标准化备份、导入导出与快照保护机制，有效规避换机迁移、误删数据风险，全方位保障宠物档案数据安全。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473A98A3-0968-B7A6-1BD3-08D10215DD18}"/>
              </a:ext>
            </a:extLst>
          </p:cNvPr>
          <p:cNvGrpSpPr/>
          <p:nvPr/>
        </p:nvGrpSpPr>
        <p:grpSpPr>
          <a:xfrm>
            <a:off x="8098726" y="0"/>
            <a:ext cx="967840" cy="450056"/>
            <a:chOff x="121444" y="118306"/>
            <a:chExt cx="967840" cy="450056"/>
          </a:xfrm>
        </p:grpSpPr>
        <p:pic>
          <p:nvPicPr>
            <p:cNvPr id="21" name="图片 20">
              <a:extLst>
                <a:ext uri="{FF2B5EF4-FFF2-40B4-BE49-F238E27FC236}">
                  <a16:creationId xmlns:a16="http://schemas.microsoft.com/office/drawing/2014/main" id="{6C6B2C12-1A12-53D7-9115-0B9CEFB0DE6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21444" y="118306"/>
              <a:ext cx="450056" cy="450056"/>
            </a:xfrm>
            <a:prstGeom prst="rect">
              <a:avLst/>
            </a:prstGeom>
          </p:spPr>
        </p:pic>
        <p:pic>
          <p:nvPicPr>
            <p:cNvPr id="22" name="图片 21">
              <a:extLst>
                <a:ext uri="{FF2B5EF4-FFF2-40B4-BE49-F238E27FC236}">
                  <a16:creationId xmlns:a16="http://schemas.microsoft.com/office/drawing/2014/main" id="{C5A0C306-D3A9-C2E3-A0C1-531E1F411D2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39228" y="136560"/>
              <a:ext cx="450056" cy="431802"/>
            </a:xfrm>
            <a:prstGeom prst="rect">
              <a:avLst/>
            </a:prstGeom>
          </p:spPr>
        </p:pic>
      </p:grpSp>
      <p:pic>
        <p:nvPicPr>
          <p:cNvPr id="24" name="图片 23">
            <a:extLst>
              <a:ext uri="{FF2B5EF4-FFF2-40B4-BE49-F238E27FC236}">
                <a16:creationId xmlns:a16="http://schemas.microsoft.com/office/drawing/2014/main" id="{F2BE6710-4BBD-4C0D-42F0-A99FA4C44EB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64026" y="955349"/>
            <a:ext cx="2084061" cy="370302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78652" y="2312332"/>
            <a:ext cx="4786696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成果展示</a:t>
            </a:r>
            <a:endParaRPr lang="en-US" sz="1440" dirty="0"/>
          </a:p>
        </p:txBody>
      </p:sp>
      <p:sp>
        <p:nvSpPr>
          <p:cNvPr id="3" name="Text 1"/>
          <p:cNvSpPr/>
          <p:nvPr/>
        </p:nvSpPr>
        <p:spPr>
          <a:xfrm>
            <a:off x="3464679" y="1146472"/>
            <a:ext cx="2214642" cy="147218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ctr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6768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40" dirty="0"/>
          </a:p>
        </p:txBody>
      </p:sp>
      <p:sp>
        <p:nvSpPr>
          <p:cNvPr id="4" name="Shape 2"/>
          <p:cNvSpPr/>
          <p:nvPr/>
        </p:nvSpPr>
        <p:spPr>
          <a:xfrm>
            <a:off x="4393087" y="3192356"/>
            <a:ext cx="357826" cy="45720"/>
          </a:xfrm>
          <a:custGeom>
            <a:avLst/>
            <a:gdLst/>
            <a:ahLst/>
            <a:cxnLst/>
            <a:rect l="l" t="t" r="r" b="b"/>
            <a:pathLst>
              <a:path w="357826" h="45720">
                <a:moveTo>
                  <a:pt x="0" y="0"/>
                </a:moveTo>
                <a:moveTo>
                  <a:pt x="0" y="0"/>
                </a:moveTo>
                <a:lnTo>
                  <a:pt x="357826" y="0"/>
                </a:lnTo>
              </a:path>
            </a:pathLst>
          </a:custGeom>
          <a:noFill/>
          <a:ln w="28575">
            <a:solidFill>
              <a:srgbClr val="FDFCA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52AE95D3-C608-E49A-4C38-4F4D30D65DD2}"/>
              </a:ext>
            </a:extLst>
          </p:cNvPr>
          <p:cNvGrpSpPr/>
          <p:nvPr/>
        </p:nvGrpSpPr>
        <p:grpSpPr>
          <a:xfrm>
            <a:off x="8176160" y="1038"/>
            <a:ext cx="967840" cy="450056"/>
            <a:chOff x="121444" y="118306"/>
            <a:chExt cx="967840" cy="450056"/>
          </a:xfrm>
        </p:grpSpPr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85257B94-61EB-A485-9BA9-07102A25A2C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1444" y="118306"/>
              <a:ext cx="450056" cy="450056"/>
            </a:xfrm>
            <a:prstGeom prst="rect">
              <a:avLst/>
            </a:prstGeom>
          </p:spPr>
        </p:pic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1B3FDF5B-51A5-1AD5-3DE8-215C0305DF8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39228" y="136560"/>
              <a:ext cx="450056" cy="43180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1354" y="195247"/>
            <a:ext cx="7859123" cy="56692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016" b="1" dirty="0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封面设计风格解析</a:t>
            </a:r>
            <a:endParaRPr lang="en-US" sz="1440" dirty="0"/>
          </a:p>
        </p:txBody>
      </p:sp>
      <p:sp>
        <p:nvSpPr>
          <p:cNvPr id="3" name="Shape 1"/>
          <p:cNvSpPr/>
          <p:nvPr/>
        </p:nvSpPr>
        <p:spPr>
          <a:xfrm>
            <a:off x="4076898" y="1160621"/>
            <a:ext cx="615117" cy="615117"/>
          </a:xfrm>
          <a:custGeom>
            <a:avLst/>
            <a:gdLst/>
            <a:ahLst/>
            <a:cxnLst/>
            <a:rect l="l" t="t" r="r" b="b"/>
            <a:pathLst>
              <a:path w="615117" h="615117">
                <a:moveTo>
                  <a:pt x="307559" y="0"/>
                </a:moveTo>
                <a:moveTo>
                  <a:pt x="307559" y="0"/>
                </a:moveTo>
                <a:cubicBezTo>
                  <a:pt x="477305" y="0"/>
                  <a:pt x="615117" y="137812"/>
                  <a:pt x="615117" y="307559"/>
                </a:cubicBezTo>
                <a:cubicBezTo>
                  <a:pt x="615117" y="477305"/>
                  <a:pt x="477305" y="615117"/>
                  <a:pt x="307559" y="615117"/>
                </a:cubicBezTo>
                <a:cubicBezTo>
                  <a:pt x="137812" y="615117"/>
                  <a:pt x="0" y="477305"/>
                  <a:pt x="0" y="307559"/>
                </a:cubicBezTo>
                <a:cubicBezTo>
                  <a:pt x="0" y="137812"/>
                  <a:pt x="137812" y="0"/>
                  <a:pt x="307559" y="0"/>
                </a:cubicBezTo>
                <a:close/>
              </a:path>
            </a:pathLst>
          </a:custGeom>
          <a:solidFill>
            <a:srgbClr val="FE87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4027412" y="1143567"/>
            <a:ext cx="714089" cy="64922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ctr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448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40" dirty="0"/>
          </a:p>
        </p:txBody>
      </p:sp>
      <p:sp>
        <p:nvSpPr>
          <p:cNvPr id="5" name="Shape 3"/>
          <p:cNvSpPr/>
          <p:nvPr/>
        </p:nvSpPr>
        <p:spPr>
          <a:xfrm>
            <a:off x="4076898" y="2471659"/>
            <a:ext cx="615117" cy="615117"/>
          </a:xfrm>
          <a:custGeom>
            <a:avLst/>
            <a:gdLst/>
            <a:ahLst/>
            <a:cxnLst/>
            <a:rect l="l" t="t" r="r" b="b"/>
            <a:pathLst>
              <a:path w="615117" h="615117">
                <a:moveTo>
                  <a:pt x="307559" y="0"/>
                </a:moveTo>
                <a:moveTo>
                  <a:pt x="307559" y="0"/>
                </a:moveTo>
                <a:cubicBezTo>
                  <a:pt x="477305" y="0"/>
                  <a:pt x="615117" y="137812"/>
                  <a:pt x="615117" y="307559"/>
                </a:cubicBezTo>
                <a:cubicBezTo>
                  <a:pt x="615117" y="477305"/>
                  <a:pt x="477305" y="615117"/>
                  <a:pt x="307559" y="615117"/>
                </a:cubicBezTo>
                <a:cubicBezTo>
                  <a:pt x="137812" y="615117"/>
                  <a:pt x="0" y="477305"/>
                  <a:pt x="0" y="307559"/>
                </a:cubicBezTo>
                <a:cubicBezTo>
                  <a:pt x="0" y="137812"/>
                  <a:pt x="137812" y="0"/>
                  <a:pt x="307559" y="0"/>
                </a:cubicBezTo>
                <a:close/>
              </a:path>
            </a:pathLst>
          </a:custGeom>
          <a:solidFill>
            <a:srgbClr val="FE87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4027412" y="2454606"/>
            <a:ext cx="714089" cy="64922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ctr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448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40" dirty="0"/>
          </a:p>
        </p:txBody>
      </p:sp>
      <p:sp>
        <p:nvSpPr>
          <p:cNvPr id="7" name="Shape 5"/>
          <p:cNvSpPr/>
          <p:nvPr/>
        </p:nvSpPr>
        <p:spPr>
          <a:xfrm>
            <a:off x="4076898" y="3757604"/>
            <a:ext cx="615117" cy="615117"/>
          </a:xfrm>
          <a:custGeom>
            <a:avLst/>
            <a:gdLst/>
            <a:ahLst/>
            <a:cxnLst/>
            <a:rect l="l" t="t" r="r" b="b"/>
            <a:pathLst>
              <a:path w="615117" h="615117">
                <a:moveTo>
                  <a:pt x="307559" y="0"/>
                </a:moveTo>
                <a:moveTo>
                  <a:pt x="307559" y="0"/>
                </a:moveTo>
                <a:cubicBezTo>
                  <a:pt x="477305" y="0"/>
                  <a:pt x="615117" y="137812"/>
                  <a:pt x="615117" y="307559"/>
                </a:cubicBezTo>
                <a:cubicBezTo>
                  <a:pt x="615117" y="477305"/>
                  <a:pt x="477305" y="615117"/>
                  <a:pt x="307559" y="615117"/>
                </a:cubicBezTo>
                <a:cubicBezTo>
                  <a:pt x="137812" y="615117"/>
                  <a:pt x="0" y="477305"/>
                  <a:pt x="0" y="307559"/>
                </a:cubicBezTo>
                <a:cubicBezTo>
                  <a:pt x="0" y="137812"/>
                  <a:pt x="137812" y="0"/>
                  <a:pt x="307559" y="0"/>
                </a:cubicBezTo>
                <a:close/>
              </a:path>
            </a:pathLst>
          </a:custGeom>
          <a:solidFill>
            <a:srgbClr val="FE87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4027412" y="3740551"/>
            <a:ext cx="714089" cy="64922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ctr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448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40" dirty="0"/>
          </a:p>
        </p:txBody>
      </p:sp>
      <p:sp>
        <p:nvSpPr>
          <p:cNvPr id="9" name="Shape 7"/>
          <p:cNvSpPr/>
          <p:nvPr/>
        </p:nvSpPr>
        <p:spPr>
          <a:xfrm>
            <a:off x="246720" y="1143567"/>
            <a:ext cx="1901592" cy="3392989"/>
          </a:xfrm>
          <a:custGeom>
            <a:avLst/>
            <a:gdLst/>
            <a:ahLst/>
            <a:cxnLst/>
            <a:rect l="l" t="t" r="r" b="b"/>
            <a:pathLst>
              <a:path w="1901592" h="3392989">
                <a:moveTo>
                  <a:pt x="0" y="0"/>
                </a:moveTo>
                <a:moveTo>
                  <a:pt x="0" y="0"/>
                </a:moveTo>
                <a:lnTo>
                  <a:pt x="1901592" y="0"/>
                </a:lnTo>
                <a:lnTo>
                  <a:pt x="1901592" y="3392989"/>
                </a:lnTo>
                <a:lnTo>
                  <a:pt x="0" y="3392989"/>
                </a:lnTo>
                <a:close/>
              </a:path>
            </a:pathLst>
          </a:custGeom>
          <a:solidFill>
            <a:srgbClr val="FE872E"/>
          </a:solidFill>
          <a:ln/>
          <a:effectLst>
            <a:outerShdw blurRad="47625" dist="38100" dir="2700000" algn="bl" rotWithShape="0">
              <a:srgbClr val="FE872E">
                <a:alpha val="65882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1" name="Text 8"/>
          <p:cNvSpPr/>
          <p:nvPr/>
        </p:nvSpPr>
        <p:spPr>
          <a:xfrm>
            <a:off x="4814420" y="1026838"/>
            <a:ext cx="4079687" cy="3657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封面设计理念</a:t>
            </a:r>
            <a:endParaRPr lang="en-US" sz="1440" dirty="0"/>
          </a:p>
        </p:txBody>
      </p:sp>
      <p:sp>
        <p:nvSpPr>
          <p:cNvPr id="12" name="Text 9"/>
          <p:cNvSpPr/>
          <p:nvPr/>
        </p:nvSpPr>
        <p:spPr>
          <a:xfrm>
            <a:off x="4814420" y="1346878"/>
            <a:ext cx="4071610" cy="64780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31429"/>
              </a:lnSpc>
              <a:spcBef>
                <a:spcPts val="360"/>
              </a:spcBef>
              <a:buNone/>
            </a:pPr>
            <a:r>
              <a:rPr lang="en-US" sz="1200" dirty="0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采用简约大气的黑白配色，突出专业与科技感，同时融入宠物健康管理的核心主题。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814420" y="2333304"/>
            <a:ext cx="4079687" cy="3657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动物爪印图标</a:t>
            </a:r>
            <a:endParaRPr lang="en-US" sz="1440" dirty="0"/>
          </a:p>
        </p:txBody>
      </p:sp>
      <p:sp>
        <p:nvSpPr>
          <p:cNvPr id="14" name="Text 11"/>
          <p:cNvSpPr/>
          <p:nvPr/>
        </p:nvSpPr>
        <p:spPr>
          <a:xfrm>
            <a:off x="4814420" y="2662488"/>
            <a:ext cx="4068316" cy="64780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31429"/>
              </a:lnSpc>
              <a:spcBef>
                <a:spcPts val="360"/>
              </a:spcBef>
              <a:buNone/>
            </a:pPr>
            <a:r>
              <a:rPr lang="en-US" sz="1200" dirty="0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以动物爪印为主要设计元素，既体现宠物特色，又增添一丝可爱与亲和力。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814420" y="3648915"/>
            <a:ext cx="4079687" cy="3657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整体风格定位</a:t>
            </a:r>
            <a:endParaRPr lang="en-US" sz="1440" dirty="0"/>
          </a:p>
        </p:txBody>
      </p:sp>
      <p:sp>
        <p:nvSpPr>
          <p:cNvPr id="16" name="Text 13"/>
          <p:cNvSpPr/>
          <p:nvPr/>
        </p:nvSpPr>
        <p:spPr>
          <a:xfrm>
            <a:off x="4814420" y="3978099"/>
            <a:ext cx="4079190" cy="64780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31429"/>
              </a:lnSpc>
              <a:spcBef>
                <a:spcPts val="360"/>
              </a:spcBef>
              <a:buNone/>
            </a:pPr>
            <a:r>
              <a:rPr lang="en-US" sz="1200" dirty="0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简约大气中融入萌趣细节，平衡专业性与温馨感，符合智能宠物健康管理的品牌调性。</a:t>
            </a:r>
            <a:endParaRPr lang="en-US" sz="1200" dirty="0"/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89431779-690A-1D74-42A6-3FE572649D88}"/>
              </a:ext>
            </a:extLst>
          </p:cNvPr>
          <p:cNvGrpSpPr/>
          <p:nvPr/>
        </p:nvGrpSpPr>
        <p:grpSpPr>
          <a:xfrm>
            <a:off x="8176160" y="1038"/>
            <a:ext cx="967840" cy="450056"/>
            <a:chOff x="121444" y="118306"/>
            <a:chExt cx="967840" cy="450056"/>
          </a:xfrm>
        </p:grpSpPr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83A77BF9-9082-B622-1862-CC9F5284993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1444" y="118306"/>
              <a:ext cx="450056" cy="450056"/>
            </a:xfrm>
            <a:prstGeom prst="rect">
              <a:avLst/>
            </a:prstGeom>
          </p:spPr>
        </p:pic>
        <p:pic>
          <p:nvPicPr>
            <p:cNvPr id="19" name="图片 18">
              <a:extLst>
                <a:ext uri="{FF2B5EF4-FFF2-40B4-BE49-F238E27FC236}">
                  <a16:creationId xmlns:a16="http://schemas.microsoft.com/office/drawing/2014/main" id="{E8B284C9-9B30-B8B6-552F-BC1A5081A74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39228" y="136560"/>
              <a:ext cx="450056" cy="431802"/>
            </a:xfrm>
            <a:prstGeom prst="rect">
              <a:avLst/>
            </a:prstGeom>
          </p:spPr>
        </p:pic>
      </p:grp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1284E17F-A150-1FE5-F888-A1ABA295B5BA}"/>
              </a:ext>
            </a:extLst>
          </p:cNvPr>
          <p:cNvSpPr/>
          <p:nvPr/>
        </p:nvSpPr>
        <p:spPr>
          <a:xfrm>
            <a:off x="934501" y="1634783"/>
            <a:ext cx="2410556" cy="2410556"/>
          </a:xfrm>
          <a:prstGeom prst="round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5" name="图形 24">
            <a:extLst>
              <a:ext uri="{FF2B5EF4-FFF2-40B4-BE49-F238E27FC236}">
                <a16:creationId xmlns:a16="http://schemas.microsoft.com/office/drawing/2014/main" id="{1B86972C-1A09-034F-9550-20AB0297856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3414" y="1716008"/>
            <a:ext cx="2329331" cy="232933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>
            <a:extLst>
              <a:ext uri="{FF2B5EF4-FFF2-40B4-BE49-F238E27FC236}">
                <a16:creationId xmlns:a16="http://schemas.microsoft.com/office/drawing/2014/main" id="{48D9ACD3-C1B1-DE8A-98ED-65E07D7A4E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1647" y="623579"/>
            <a:ext cx="1194030" cy="2656716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5C92895E-E6FD-293A-B911-1CED9EC9BD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75512" y="673566"/>
            <a:ext cx="1192976" cy="2654371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46F65CC4-E5F3-6909-2A74-C7888D91771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6040" y="675909"/>
            <a:ext cx="1192976" cy="2654373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1364479" y="2861219"/>
            <a:ext cx="421372" cy="421372"/>
          </a:xfrm>
          <a:custGeom>
            <a:avLst/>
            <a:gdLst/>
            <a:ahLst/>
            <a:cxnLst/>
            <a:rect l="l" t="t" r="r" b="b"/>
            <a:pathLst>
              <a:path w="421372" h="421372">
                <a:moveTo>
                  <a:pt x="210686" y="0"/>
                </a:moveTo>
                <a:moveTo>
                  <a:pt x="210686" y="0"/>
                </a:moveTo>
                <a:cubicBezTo>
                  <a:pt x="326966" y="0"/>
                  <a:pt x="421372" y="94405"/>
                  <a:pt x="421372" y="210686"/>
                </a:cubicBezTo>
                <a:cubicBezTo>
                  <a:pt x="421372" y="326966"/>
                  <a:pt x="326966" y="421372"/>
                  <a:pt x="210686" y="421372"/>
                </a:cubicBezTo>
                <a:cubicBezTo>
                  <a:pt x="94405" y="421372"/>
                  <a:pt x="0" y="326966"/>
                  <a:pt x="0" y="210686"/>
                </a:cubicBezTo>
                <a:cubicBezTo>
                  <a:pt x="0" y="94405"/>
                  <a:pt x="94405" y="0"/>
                  <a:pt x="210686" y="0"/>
                </a:cubicBezTo>
                <a:close/>
              </a:path>
            </a:pathLst>
          </a:custGeom>
          <a:solidFill>
            <a:srgbClr val="FE87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" name="Text 0"/>
          <p:cNvSpPr/>
          <p:nvPr/>
        </p:nvSpPr>
        <p:spPr>
          <a:xfrm>
            <a:off x="561354" y="195247"/>
            <a:ext cx="7859123" cy="56692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016" b="1" dirty="0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欢迎使用宠记PetNote</a:t>
            </a:r>
            <a:endParaRPr lang="en-US" sz="1440" dirty="0"/>
          </a:p>
        </p:txBody>
      </p:sp>
      <p:sp>
        <p:nvSpPr>
          <p:cNvPr id="8" name="Shape 3"/>
          <p:cNvSpPr/>
          <p:nvPr/>
        </p:nvSpPr>
        <p:spPr>
          <a:xfrm>
            <a:off x="4361314" y="2861219"/>
            <a:ext cx="421372" cy="421372"/>
          </a:xfrm>
          <a:custGeom>
            <a:avLst/>
            <a:gdLst/>
            <a:ahLst/>
            <a:cxnLst/>
            <a:rect l="l" t="t" r="r" b="b"/>
            <a:pathLst>
              <a:path w="421372" h="421372">
                <a:moveTo>
                  <a:pt x="210686" y="0"/>
                </a:moveTo>
                <a:moveTo>
                  <a:pt x="210686" y="0"/>
                </a:moveTo>
                <a:cubicBezTo>
                  <a:pt x="326966" y="0"/>
                  <a:pt x="421372" y="94405"/>
                  <a:pt x="421372" y="210686"/>
                </a:cubicBezTo>
                <a:cubicBezTo>
                  <a:pt x="421372" y="326966"/>
                  <a:pt x="326966" y="421372"/>
                  <a:pt x="210686" y="421372"/>
                </a:cubicBezTo>
                <a:cubicBezTo>
                  <a:pt x="94405" y="421372"/>
                  <a:pt x="0" y="326966"/>
                  <a:pt x="0" y="210686"/>
                </a:cubicBezTo>
                <a:cubicBezTo>
                  <a:pt x="0" y="94405"/>
                  <a:pt x="94405" y="0"/>
                  <a:pt x="210686" y="0"/>
                </a:cubicBezTo>
                <a:close/>
              </a:path>
            </a:pathLst>
          </a:custGeom>
          <a:solidFill>
            <a:srgbClr val="FFC53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Shape 4"/>
          <p:cNvSpPr/>
          <p:nvPr/>
        </p:nvSpPr>
        <p:spPr>
          <a:xfrm>
            <a:off x="7358150" y="2861219"/>
            <a:ext cx="421372" cy="421372"/>
          </a:xfrm>
          <a:custGeom>
            <a:avLst/>
            <a:gdLst/>
            <a:ahLst/>
            <a:cxnLst/>
            <a:rect l="l" t="t" r="r" b="b"/>
            <a:pathLst>
              <a:path w="421372" h="421372">
                <a:moveTo>
                  <a:pt x="210686" y="0"/>
                </a:moveTo>
                <a:moveTo>
                  <a:pt x="210686" y="0"/>
                </a:moveTo>
                <a:cubicBezTo>
                  <a:pt x="326966" y="0"/>
                  <a:pt x="421372" y="94405"/>
                  <a:pt x="421372" y="210686"/>
                </a:cubicBezTo>
                <a:cubicBezTo>
                  <a:pt x="421372" y="326966"/>
                  <a:pt x="326966" y="421372"/>
                  <a:pt x="210686" y="421372"/>
                </a:cubicBezTo>
                <a:cubicBezTo>
                  <a:pt x="94405" y="421372"/>
                  <a:pt x="0" y="326966"/>
                  <a:pt x="0" y="210686"/>
                </a:cubicBezTo>
                <a:cubicBezTo>
                  <a:pt x="0" y="94405"/>
                  <a:pt x="94405" y="0"/>
                  <a:pt x="210686" y="0"/>
                </a:cubicBezTo>
                <a:close/>
              </a:path>
            </a:pathLst>
          </a:custGeom>
          <a:solidFill>
            <a:srgbClr val="FE87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5"/>
          <p:cNvSpPr/>
          <p:nvPr/>
        </p:nvSpPr>
        <p:spPr>
          <a:xfrm>
            <a:off x="7324251" y="2815873"/>
            <a:ext cx="489170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ctr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40" dirty="0"/>
          </a:p>
        </p:txBody>
      </p:sp>
      <p:sp>
        <p:nvSpPr>
          <p:cNvPr id="11" name="Text 6"/>
          <p:cNvSpPr/>
          <p:nvPr/>
        </p:nvSpPr>
        <p:spPr>
          <a:xfrm>
            <a:off x="221852" y="3452779"/>
            <a:ext cx="2706624" cy="27603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 algn="ctr">
              <a:lnSpc>
                <a:spcPct val="100000"/>
              </a:lnSpc>
              <a:spcBef>
                <a:spcPts val="360"/>
              </a:spcBef>
              <a:buNone/>
            </a:pPr>
            <a:r>
              <a:rPr lang="zh-CN" altLang="en-US" sz="1440" b="1" dirty="0">
                <a:solidFill>
                  <a:srgbClr val="FE872E"/>
                </a:solidFill>
                <a:latin typeface="Microsoft Yahei" pitchFamily="34" charset="0"/>
                <a:ea typeface="Microsoft Yahei" pitchFamily="34" charset="-122"/>
              </a:rPr>
              <a:t>宠记及优点</a:t>
            </a:r>
            <a:endParaRPr lang="en-US" sz="1440" dirty="0"/>
          </a:p>
        </p:txBody>
      </p:sp>
      <p:sp>
        <p:nvSpPr>
          <p:cNvPr id="12" name="Text 7"/>
          <p:cNvSpPr/>
          <p:nvPr/>
        </p:nvSpPr>
        <p:spPr>
          <a:xfrm>
            <a:off x="409762" y="3816129"/>
            <a:ext cx="2330806" cy="81381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ctr">
              <a:lnSpc>
                <a:spcPct val="131429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宠记PetNote通过智能技术，为宠物主人提供全面的健康管理方案，让爱宠健康无忧。</a:t>
            </a:r>
            <a:endParaRPr lang="en-US" sz="1440" dirty="0"/>
          </a:p>
        </p:txBody>
      </p:sp>
      <p:sp>
        <p:nvSpPr>
          <p:cNvPr id="13" name="Text 8"/>
          <p:cNvSpPr/>
          <p:nvPr/>
        </p:nvSpPr>
        <p:spPr>
          <a:xfrm>
            <a:off x="3218688" y="3452779"/>
            <a:ext cx="2706624" cy="27603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 algn="ctr">
              <a:lnSpc>
                <a:spcPct val="10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FFC5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便捷记录与追踪</a:t>
            </a:r>
            <a:endParaRPr lang="en-US" sz="1440" dirty="0"/>
          </a:p>
        </p:txBody>
      </p:sp>
      <p:sp>
        <p:nvSpPr>
          <p:cNvPr id="14" name="Text 9"/>
          <p:cNvSpPr/>
          <p:nvPr/>
        </p:nvSpPr>
        <p:spPr>
          <a:xfrm>
            <a:off x="3406597" y="3816129"/>
            <a:ext cx="2330806" cy="60350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ctr">
              <a:lnSpc>
                <a:spcPct val="131429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轻松记录宠物的日常健康数据，随时追踪变化，及时发现潜在问题。</a:t>
            </a:r>
            <a:endParaRPr lang="en-US" sz="1440" dirty="0"/>
          </a:p>
        </p:txBody>
      </p:sp>
      <p:sp>
        <p:nvSpPr>
          <p:cNvPr id="15" name="Text 10"/>
          <p:cNvSpPr/>
          <p:nvPr/>
        </p:nvSpPr>
        <p:spPr>
          <a:xfrm>
            <a:off x="6215524" y="3452779"/>
            <a:ext cx="2706624" cy="27603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 algn="ctr">
              <a:lnSpc>
                <a:spcPct val="100000"/>
              </a:lnSpc>
              <a:spcBef>
                <a:spcPts val="360"/>
              </a:spcBef>
              <a:buNone/>
            </a:pPr>
            <a:r>
              <a:rPr lang="en-US" altLang="zh-CN" sz="1440" b="1" dirty="0">
                <a:solidFill>
                  <a:srgbClr val="FE872E"/>
                </a:solidFill>
                <a:latin typeface="Microsoft Yahei" pitchFamily="34" charset="0"/>
                <a:ea typeface="Microsoft Yahei" pitchFamily="34" charset="-122"/>
              </a:rPr>
              <a:t>AI</a:t>
            </a:r>
            <a:r>
              <a:rPr lang="zh-CN" altLang="en-US" sz="1440" b="1" dirty="0">
                <a:solidFill>
                  <a:srgbClr val="FE872E"/>
                </a:solidFill>
                <a:latin typeface="Microsoft Yahei" pitchFamily="34" charset="0"/>
                <a:ea typeface="Microsoft Yahei" pitchFamily="34" charset="-122"/>
              </a:rPr>
              <a:t>与数据安全</a:t>
            </a:r>
            <a:endParaRPr lang="en-US" sz="1440" dirty="0"/>
          </a:p>
        </p:txBody>
      </p:sp>
      <p:sp>
        <p:nvSpPr>
          <p:cNvPr id="16" name="Text 11"/>
          <p:cNvSpPr/>
          <p:nvPr/>
        </p:nvSpPr>
        <p:spPr>
          <a:xfrm>
            <a:off x="6403259" y="3816129"/>
            <a:ext cx="2330806" cy="79105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>
              <a:lnSpc>
                <a:spcPct val="131429"/>
              </a:lnSpc>
              <a:spcBef>
                <a:spcPts val="360"/>
              </a:spcBef>
            </a:pPr>
            <a:r>
              <a:rPr lang="zh-CN" altLang="en-US" sz="1008" dirty="0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利用</a:t>
            </a:r>
            <a:r>
              <a:rPr lang="en-US" altLang="zh-CN" sz="1008" dirty="0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</a:t>
            </a:r>
            <a:r>
              <a:rPr lang="zh-CN" altLang="en-US" sz="1008" dirty="0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管理数据，安全性好用的放心。还能</a:t>
            </a:r>
            <a:r>
              <a:rPr lang="en-US" altLang="zh-CN" sz="1000" dirty="0" err="1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根据宠物特征和健康数据，提供定制化养护建议，让照顾更贴心</a:t>
            </a:r>
            <a:r>
              <a:rPr lang="en-US" altLang="zh-CN" sz="1000" dirty="0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4327415" y="2815873"/>
            <a:ext cx="489170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ctr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40" dirty="0"/>
          </a:p>
        </p:txBody>
      </p:sp>
      <p:sp>
        <p:nvSpPr>
          <p:cNvPr id="7" name="Text 2"/>
          <p:cNvSpPr/>
          <p:nvPr/>
        </p:nvSpPr>
        <p:spPr>
          <a:xfrm>
            <a:off x="1330579" y="2815873"/>
            <a:ext cx="489170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ctr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40" dirty="0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5A478D8B-2676-0520-29A2-3FACBA385673}"/>
              </a:ext>
            </a:extLst>
          </p:cNvPr>
          <p:cNvGrpSpPr/>
          <p:nvPr/>
        </p:nvGrpSpPr>
        <p:grpSpPr>
          <a:xfrm>
            <a:off x="8176160" y="1038"/>
            <a:ext cx="967840" cy="450056"/>
            <a:chOff x="121444" y="118306"/>
            <a:chExt cx="967840" cy="450056"/>
          </a:xfrm>
        </p:grpSpPr>
        <p:pic>
          <p:nvPicPr>
            <p:cNvPr id="19" name="图片 18">
              <a:extLst>
                <a:ext uri="{FF2B5EF4-FFF2-40B4-BE49-F238E27FC236}">
                  <a16:creationId xmlns:a16="http://schemas.microsoft.com/office/drawing/2014/main" id="{EFBCD882-80C9-64D0-FB23-7559AE58A38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21444" y="118306"/>
              <a:ext cx="450056" cy="450056"/>
            </a:xfrm>
            <a:prstGeom prst="rect">
              <a:avLst/>
            </a:prstGeom>
          </p:spPr>
        </p:pic>
        <p:pic>
          <p:nvPicPr>
            <p:cNvPr id="20" name="图片 19">
              <a:extLst>
                <a:ext uri="{FF2B5EF4-FFF2-40B4-BE49-F238E27FC236}">
                  <a16:creationId xmlns:a16="http://schemas.microsoft.com/office/drawing/2014/main" id="{7E4720CD-8840-BACA-1780-A22C60F63B7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39228" y="136560"/>
              <a:ext cx="450056" cy="43180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>
            <a:extLst>
              <a:ext uri="{FF2B5EF4-FFF2-40B4-BE49-F238E27FC236}">
                <a16:creationId xmlns:a16="http://schemas.microsoft.com/office/drawing/2014/main" id="{F0A83D2A-A16D-441B-E9DB-F318375D97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129" y="700357"/>
            <a:ext cx="1935386" cy="4306235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61354" y="195247"/>
            <a:ext cx="7859123" cy="56692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016" b="1" dirty="0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宠物信息添加步骤</a:t>
            </a:r>
            <a:endParaRPr lang="en-US" sz="1440" dirty="0"/>
          </a:p>
        </p:txBody>
      </p:sp>
      <p:sp>
        <p:nvSpPr>
          <p:cNvPr id="3" name="Shape 1"/>
          <p:cNvSpPr/>
          <p:nvPr/>
        </p:nvSpPr>
        <p:spPr>
          <a:xfrm>
            <a:off x="3471578" y="630480"/>
            <a:ext cx="5319909" cy="1686383"/>
          </a:xfrm>
          <a:custGeom>
            <a:avLst/>
            <a:gdLst/>
            <a:ahLst/>
            <a:cxnLst/>
            <a:rect l="l" t="t" r="r" b="b"/>
            <a:pathLst>
              <a:path w="5319909" h="1686383">
                <a:moveTo>
                  <a:pt x="108562" y="0"/>
                </a:moveTo>
                <a:moveTo>
                  <a:pt x="108562" y="0"/>
                </a:moveTo>
                <a:lnTo>
                  <a:pt x="5211347" y="0"/>
                </a:lnTo>
                <a:quadBezTo>
                  <a:pt x="5319909" y="0"/>
                  <a:pt x="5319909" y="108562"/>
                </a:quadBezTo>
                <a:lnTo>
                  <a:pt x="5319909" y="1577821"/>
                </a:lnTo>
                <a:quadBezTo>
                  <a:pt x="5319909" y="1686383"/>
                  <a:pt x="5211347" y="1686383"/>
                </a:quadBezTo>
                <a:lnTo>
                  <a:pt x="108562" y="1686383"/>
                </a:lnTo>
                <a:quadBezTo>
                  <a:pt x="0" y="1686383"/>
                  <a:pt x="0" y="1577821"/>
                </a:quadBezTo>
                <a:lnTo>
                  <a:pt x="0" y="108562"/>
                </a:lnTo>
                <a:quadBezTo>
                  <a:pt x="0" y="0"/>
                  <a:pt x="108562" y="0"/>
                </a:quadBezTo>
                <a:close/>
              </a:path>
            </a:pathLst>
          </a:custGeom>
          <a:solidFill>
            <a:srgbClr val="FE87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5499594" y="2934151"/>
            <a:ext cx="3291893" cy="1890955"/>
          </a:xfrm>
          <a:custGeom>
            <a:avLst/>
            <a:gdLst/>
            <a:ahLst/>
            <a:cxnLst/>
            <a:rect l="l" t="t" r="r" b="b"/>
            <a:pathLst>
              <a:path w="3291893" h="1890955">
                <a:moveTo>
                  <a:pt x="93239" y="0"/>
                </a:moveTo>
                <a:moveTo>
                  <a:pt x="93239" y="0"/>
                </a:moveTo>
                <a:lnTo>
                  <a:pt x="3198655" y="0"/>
                </a:lnTo>
                <a:quadBezTo>
                  <a:pt x="3291893" y="0"/>
                  <a:pt x="3291893" y="93239"/>
                </a:quadBezTo>
                <a:lnTo>
                  <a:pt x="3291893" y="1797717"/>
                </a:lnTo>
                <a:quadBezTo>
                  <a:pt x="3291893" y="1890955"/>
                  <a:pt x="3198655" y="1890955"/>
                </a:quadBezTo>
                <a:lnTo>
                  <a:pt x="93239" y="1890955"/>
                </a:lnTo>
                <a:quadBezTo>
                  <a:pt x="0" y="1890955"/>
                  <a:pt x="0" y="1797717"/>
                </a:quadBezTo>
                <a:lnTo>
                  <a:pt x="0" y="93239"/>
                </a:lnTo>
                <a:quadBezTo>
                  <a:pt x="0" y="0"/>
                  <a:pt x="93239" y="0"/>
                </a:quadBezTo>
                <a:close/>
              </a:path>
            </a:pathLst>
          </a:custGeom>
          <a:solidFill>
            <a:srgbClr val="FE87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3864633" y="1093258"/>
            <a:ext cx="605580" cy="605580"/>
          </a:xfrm>
          <a:custGeom>
            <a:avLst/>
            <a:gdLst/>
            <a:ahLst/>
            <a:cxnLst/>
            <a:rect l="l" t="t" r="r" b="b"/>
            <a:pathLst>
              <a:path w="605580" h="605580">
                <a:moveTo>
                  <a:pt x="302790" y="0"/>
                </a:moveTo>
                <a:moveTo>
                  <a:pt x="302790" y="0"/>
                </a:moveTo>
                <a:cubicBezTo>
                  <a:pt x="469904" y="0"/>
                  <a:pt x="605580" y="135676"/>
                  <a:pt x="605580" y="302790"/>
                </a:cubicBezTo>
                <a:cubicBezTo>
                  <a:pt x="605580" y="469904"/>
                  <a:pt x="469904" y="605580"/>
                  <a:pt x="302790" y="605580"/>
                </a:cubicBezTo>
                <a:cubicBezTo>
                  <a:pt x="135676" y="605580"/>
                  <a:pt x="0" y="469904"/>
                  <a:pt x="0" y="302790"/>
                </a:cubicBezTo>
                <a:cubicBezTo>
                  <a:pt x="0" y="135676"/>
                  <a:pt x="135676" y="0"/>
                  <a:pt x="302790" y="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Shape 4"/>
          <p:cNvSpPr/>
          <p:nvPr/>
        </p:nvSpPr>
        <p:spPr>
          <a:xfrm>
            <a:off x="3794178" y="1022803"/>
            <a:ext cx="746491" cy="746491"/>
          </a:xfrm>
          <a:custGeom>
            <a:avLst/>
            <a:gdLst/>
            <a:ahLst/>
            <a:cxnLst/>
            <a:rect l="l" t="t" r="r" b="b"/>
            <a:pathLst>
              <a:path w="746491" h="746491">
                <a:moveTo>
                  <a:pt x="373246" y="0"/>
                </a:moveTo>
                <a:moveTo>
                  <a:pt x="373246" y="0"/>
                </a:moveTo>
                <a:cubicBezTo>
                  <a:pt x="579246" y="0"/>
                  <a:pt x="746491" y="167246"/>
                  <a:pt x="746491" y="373246"/>
                </a:cubicBezTo>
                <a:cubicBezTo>
                  <a:pt x="746491" y="579246"/>
                  <a:pt x="579246" y="746491"/>
                  <a:pt x="373246" y="746491"/>
                </a:cubicBezTo>
                <a:cubicBezTo>
                  <a:pt x="167246" y="746491"/>
                  <a:pt x="0" y="579246"/>
                  <a:pt x="0" y="373246"/>
                </a:cubicBezTo>
                <a:cubicBezTo>
                  <a:pt x="0" y="167246"/>
                  <a:pt x="167246" y="0"/>
                  <a:pt x="373246" y="0"/>
                </a:cubicBezTo>
                <a:close/>
              </a:path>
            </a:pathLst>
          </a:custGeom>
          <a:solidFill>
            <a:srgbClr val="FFFFFF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5837211" y="3081160"/>
            <a:ext cx="2616660" cy="544994"/>
          </a:xfrm>
          <a:custGeom>
            <a:avLst/>
            <a:gdLst/>
            <a:ahLst/>
            <a:cxnLst/>
            <a:rect l="l" t="t" r="r" b="b"/>
            <a:pathLst>
              <a:path w="2616660" h="544994">
                <a:moveTo>
                  <a:pt x="272497" y="0"/>
                </a:moveTo>
                <a:moveTo>
                  <a:pt x="272497" y="0"/>
                </a:moveTo>
                <a:lnTo>
                  <a:pt x="2344163" y="0"/>
                </a:lnTo>
                <a:quadBezTo>
                  <a:pt x="2616660" y="0"/>
                  <a:pt x="2616660" y="272497"/>
                </a:quadBezTo>
                <a:lnTo>
                  <a:pt x="2616660" y="272497"/>
                </a:lnTo>
                <a:quadBezTo>
                  <a:pt x="2616660" y="544994"/>
                  <a:pt x="2344163" y="544994"/>
                </a:quadBezTo>
                <a:lnTo>
                  <a:pt x="272497" y="544994"/>
                </a:lnTo>
                <a:quadBezTo>
                  <a:pt x="0" y="544994"/>
                  <a:pt x="0" y="272497"/>
                </a:quadBezTo>
                <a:lnTo>
                  <a:pt x="0" y="272497"/>
                </a:lnTo>
                <a:quadBezTo>
                  <a:pt x="0" y="0"/>
                  <a:pt x="272497" y="0"/>
                </a:quad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4821970" y="943299"/>
            <a:ext cx="3782752" cy="38709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b"/>
          <a:lstStyle/>
          <a:p>
            <a:pPr marL="0" indent="0">
              <a:lnSpc>
                <a:spcPct val="100000"/>
              </a:lnSpc>
              <a:spcBef>
                <a:spcPts val="360"/>
              </a:spcBef>
              <a:buNone/>
            </a:pPr>
            <a:r>
              <a:rPr lang="en-US" sz="1584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添加宠物信息步骤</a:t>
            </a:r>
            <a:endParaRPr lang="en-US" sz="1440" dirty="0"/>
          </a:p>
        </p:txBody>
      </p:sp>
      <p:sp>
        <p:nvSpPr>
          <p:cNvPr id="10" name="Text 7"/>
          <p:cNvSpPr/>
          <p:nvPr/>
        </p:nvSpPr>
        <p:spPr>
          <a:xfrm>
            <a:off x="4821970" y="1386799"/>
            <a:ext cx="3783033" cy="1010085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>
              <a:lnSpc>
                <a:spcPct val="131429"/>
              </a:lnSpc>
              <a:spcBef>
                <a:spcPts val="360"/>
              </a:spcBef>
            </a:pPr>
            <a:r>
              <a:rPr lang="en-US" altLang="zh-CN" sz="1200" dirty="0" err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从首页点击开始</a:t>
            </a:r>
            <a:r>
              <a:rPr lang="zh-CN" alt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添加宠物</a:t>
            </a:r>
            <a:r>
              <a:rPr lang="en-US" altLang="zh-CN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r>
              <a:rPr lang="en-US" altLang="zh-CN" sz="1200" dirty="0" err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按照提示逐步填写宠物基本信息，确保数据准确完整</a:t>
            </a:r>
            <a:r>
              <a:rPr lang="en-US" altLang="zh-CN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altLang="zh-CN" sz="1200" dirty="0"/>
          </a:p>
          <a:p>
            <a:pPr marL="0" indent="0">
              <a:lnSpc>
                <a:spcPct val="131429"/>
              </a:lnSpc>
              <a:spcBef>
                <a:spcPts val="360"/>
              </a:spcBef>
              <a:buNone/>
            </a:pPr>
            <a:endParaRPr lang="en-US" sz="1440" dirty="0"/>
          </a:p>
        </p:txBody>
      </p:sp>
      <p:sp>
        <p:nvSpPr>
          <p:cNvPr id="12" name="Text 8"/>
          <p:cNvSpPr/>
          <p:nvPr/>
        </p:nvSpPr>
        <p:spPr>
          <a:xfrm>
            <a:off x="5837211" y="3160109"/>
            <a:ext cx="2616660" cy="38709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 algn="ctr">
              <a:lnSpc>
                <a:spcPct val="100000"/>
              </a:lnSpc>
              <a:spcBef>
                <a:spcPts val="360"/>
              </a:spcBef>
              <a:buNone/>
            </a:pPr>
            <a:r>
              <a:rPr lang="en-US" sz="1584" b="1" dirty="0">
                <a:solidFill>
                  <a:srgbClr val="FE8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操作流程详解</a:t>
            </a:r>
            <a:endParaRPr lang="en-US" sz="1440" dirty="0"/>
          </a:p>
        </p:txBody>
      </p:sp>
      <p:sp>
        <p:nvSpPr>
          <p:cNvPr id="13" name="Text 9"/>
          <p:cNvSpPr/>
          <p:nvPr/>
        </p:nvSpPr>
        <p:spPr>
          <a:xfrm>
            <a:off x="5686823" y="3726591"/>
            <a:ext cx="2917435" cy="889731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>
              <a:lnSpc>
                <a:spcPct val="131429"/>
              </a:lnSpc>
              <a:spcBef>
                <a:spcPts val="360"/>
              </a:spcBef>
            </a:pPr>
            <a:r>
              <a:rPr lang="zh-CN" alt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点击开始添加后，</a:t>
            </a:r>
            <a:r>
              <a:rPr lang="en-US" altLang="zh-CN" sz="1200" dirty="0" err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通过九个简单步骤</a:t>
            </a:r>
            <a:br>
              <a:rPr lang="en-US" altLang="zh-CN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</a:br>
            <a:r>
              <a:rPr lang="zh-CN" alt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（有可跳过选项 ）</a:t>
            </a:r>
            <a:r>
              <a:rPr lang="en-US" altLang="zh-CN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r>
              <a:rPr lang="en-US" altLang="zh-CN" sz="1200" dirty="0" err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快速完成宠物信息录入，全面记录爱宠的健康数据</a:t>
            </a:r>
            <a:r>
              <a:rPr lang="en-US" altLang="zh-CN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29331" y="1257955"/>
            <a:ext cx="276186" cy="276186"/>
          </a:xfrm>
          <a:prstGeom prst="rect">
            <a:avLst/>
          </a:prstGeom>
        </p:spPr>
      </p:pic>
      <p:sp>
        <p:nvSpPr>
          <p:cNvPr id="15" name="流程图: 接点 14"/>
          <p:cNvSpPr/>
          <p:nvPr/>
        </p:nvSpPr>
        <p:spPr>
          <a:xfrm>
            <a:off x="1043305" y="4030698"/>
            <a:ext cx="1229033" cy="566928"/>
          </a:xfrm>
          <a:prstGeom prst="flowChartConnector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82B5F3C8-A727-54E1-8713-430968D70A77}"/>
              </a:ext>
            </a:extLst>
          </p:cNvPr>
          <p:cNvGrpSpPr/>
          <p:nvPr/>
        </p:nvGrpSpPr>
        <p:grpSpPr>
          <a:xfrm>
            <a:off x="8176160" y="1038"/>
            <a:ext cx="967840" cy="450056"/>
            <a:chOff x="121444" y="118306"/>
            <a:chExt cx="967840" cy="450056"/>
          </a:xfrm>
        </p:grpSpPr>
        <p:pic>
          <p:nvPicPr>
            <p:cNvPr id="17" name="图片 16">
              <a:extLst>
                <a:ext uri="{FF2B5EF4-FFF2-40B4-BE49-F238E27FC236}">
                  <a16:creationId xmlns:a16="http://schemas.microsoft.com/office/drawing/2014/main" id="{7AA71C37-6968-1079-0E11-30785255629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21444" y="118306"/>
              <a:ext cx="450056" cy="450056"/>
            </a:xfrm>
            <a:prstGeom prst="rect">
              <a:avLst/>
            </a:prstGeom>
          </p:spPr>
        </p:pic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29009770-1235-CD79-CE3E-407C0A51A3C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39228" y="136560"/>
              <a:ext cx="450056" cy="431802"/>
            </a:xfrm>
            <a:prstGeom prst="rect">
              <a:avLst/>
            </a:prstGeom>
          </p:spPr>
        </p:pic>
      </p:grpSp>
      <p:pic>
        <p:nvPicPr>
          <p:cNvPr id="24" name="图片 23">
            <a:extLst>
              <a:ext uri="{FF2B5EF4-FFF2-40B4-BE49-F238E27FC236}">
                <a16:creationId xmlns:a16="http://schemas.microsoft.com/office/drawing/2014/main" id="{F4D42E93-272C-3D15-C942-692787C53D5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18517" y="2316863"/>
            <a:ext cx="1644256" cy="268972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4"/>
          <p:cNvSpPr/>
          <p:nvPr/>
        </p:nvSpPr>
        <p:spPr>
          <a:xfrm>
            <a:off x="3154618" y="1092226"/>
            <a:ext cx="2834765" cy="3784659"/>
          </a:xfrm>
          <a:custGeom>
            <a:avLst/>
            <a:gdLst/>
            <a:ahLst/>
            <a:cxnLst/>
            <a:rect l="l" t="t" r="r" b="b"/>
            <a:pathLst>
              <a:path w="2834765" h="3784659">
                <a:moveTo>
                  <a:pt x="124785" y="0"/>
                </a:moveTo>
                <a:moveTo>
                  <a:pt x="124785" y="0"/>
                </a:moveTo>
                <a:lnTo>
                  <a:pt x="2709979" y="0"/>
                </a:lnTo>
                <a:quadBezTo>
                  <a:pt x="2834765" y="0"/>
                  <a:pt x="2834765" y="124785"/>
                </a:quadBezTo>
                <a:lnTo>
                  <a:pt x="2834765" y="3659874"/>
                </a:lnTo>
                <a:quadBezTo>
                  <a:pt x="2834765" y="3784659"/>
                  <a:pt x="2709979" y="3784659"/>
                </a:quadBezTo>
                <a:lnTo>
                  <a:pt x="124785" y="3784659"/>
                </a:lnTo>
                <a:quadBezTo>
                  <a:pt x="0" y="3784659"/>
                  <a:pt x="0" y="3659874"/>
                </a:quadBezTo>
                <a:lnTo>
                  <a:pt x="0" y="124785"/>
                </a:lnTo>
                <a:quadBezTo>
                  <a:pt x="0" y="0"/>
                  <a:pt x="124785" y="0"/>
                </a:quadBezTo>
                <a:close/>
              </a:path>
            </a:pathLst>
          </a:custGeom>
          <a:solidFill>
            <a:srgbClr val="FE872E">
              <a:alpha val="0"/>
            </a:srgbClr>
          </a:solidFill>
          <a:ln w="19050">
            <a:solidFill>
              <a:srgbClr val="FFC538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CC1DE69E-DEFA-A2E3-AC82-7453D82938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461" y="3494402"/>
            <a:ext cx="2095081" cy="780418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289463" y="1467221"/>
            <a:ext cx="2272466" cy="3033941"/>
          </a:xfrm>
          <a:custGeom>
            <a:avLst/>
            <a:gdLst/>
            <a:ahLst/>
            <a:cxnLst/>
            <a:rect l="l" t="t" r="r" b="b"/>
            <a:pathLst>
              <a:path w="2272466" h="3033941">
                <a:moveTo>
                  <a:pt x="100033" y="0"/>
                </a:moveTo>
                <a:moveTo>
                  <a:pt x="100033" y="0"/>
                </a:moveTo>
                <a:lnTo>
                  <a:pt x="2172433" y="0"/>
                </a:lnTo>
                <a:quadBezTo>
                  <a:pt x="2272466" y="0"/>
                  <a:pt x="2272466" y="100033"/>
                </a:quadBezTo>
                <a:lnTo>
                  <a:pt x="2272466" y="2933908"/>
                </a:lnTo>
                <a:quadBezTo>
                  <a:pt x="2272466" y="3033941"/>
                  <a:pt x="2172433" y="3033941"/>
                </a:quadBezTo>
                <a:lnTo>
                  <a:pt x="100033" y="3033941"/>
                </a:lnTo>
                <a:quadBezTo>
                  <a:pt x="0" y="3033941"/>
                  <a:pt x="0" y="2933908"/>
                </a:quadBezTo>
                <a:lnTo>
                  <a:pt x="0" y="100033"/>
                </a:lnTo>
                <a:quadBezTo>
                  <a:pt x="0" y="0"/>
                  <a:pt x="100033" y="0"/>
                </a:quadBezTo>
                <a:close/>
              </a:path>
            </a:pathLst>
          </a:custGeom>
          <a:solidFill>
            <a:srgbClr val="FE872E">
              <a:alpha val="0"/>
            </a:srgbClr>
          </a:solidFill>
          <a:ln w="19050">
            <a:solidFill>
              <a:srgbClr val="FE872E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2" name="Shape 7"/>
          <p:cNvSpPr/>
          <p:nvPr/>
        </p:nvSpPr>
        <p:spPr>
          <a:xfrm>
            <a:off x="6530471" y="1467585"/>
            <a:ext cx="2272466" cy="3033941"/>
          </a:xfrm>
          <a:custGeom>
            <a:avLst/>
            <a:gdLst/>
            <a:ahLst/>
            <a:cxnLst/>
            <a:rect l="l" t="t" r="r" b="b"/>
            <a:pathLst>
              <a:path w="2272466" h="3033941">
                <a:moveTo>
                  <a:pt x="100033" y="0"/>
                </a:moveTo>
                <a:moveTo>
                  <a:pt x="100033" y="0"/>
                </a:moveTo>
                <a:lnTo>
                  <a:pt x="2172433" y="0"/>
                </a:lnTo>
                <a:quadBezTo>
                  <a:pt x="2272466" y="0"/>
                  <a:pt x="2272466" y="100033"/>
                </a:quadBezTo>
                <a:lnTo>
                  <a:pt x="2272466" y="2933908"/>
                </a:lnTo>
                <a:quadBezTo>
                  <a:pt x="2272466" y="3033941"/>
                  <a:pt x="2172433" y="3033941"/>
                </a:quadBezTo>
                <a:lnTo>
                  <a:pt x="100033" y="3033941"/>
                </a:lnTo>
                <a:quadBezTo>
                  <a:pt x="0" y="3033941"/>
                  <a:pt x="0" y="2933908"/>
                </a:quadBezTo>
                <a:lnTo>
                  <a:pt x="0" y="100033"/>
                </a:lnTo>
                <a:quadBezTo>
                  <a:pt x="0" y="0"/>
                  <a:pt x="100033" y="0"/>
                </a:quadBezTo>
                <a:close/>
              </a:path>
            </a:pathLst>
          </a:custGeom>
          <a:solidFill>
            <a:srgbClr val="FE872E">
              <a:alpha val="0"/>
            </a:srgbClr>
          </a:solidFill>
          <a:ln w="19050">
            <a:solidFill>
              <a:srgbClr val="FE872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Text 0"/>
          <p:cNvSpPr/>
          <p:nvPr/>
        </p:nvSpPr>
        <p:spPr>
          <a:xfrm>
            <a:off x="561354" y="195247"/>
            <a:ext cx="7859123" cy="56692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016" b="1" dirty="0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新增内容操作指南</a:t>
            </a:r>
            <a:endParaRPr lang="en-US" sz="1440" dirty="0"/>
          </a:p>
        </p:txBody>
      </p:sp>
      <p:pic>
        <p:nvPicPr>
          <p:cNvPr id="5" name="Image 2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75" t="13866" r="5623" b="21167"/>
          <a:stretch/>
        </p:blipFill>
        <p:spPr>
          <a:xfrm>
            <a:off x="6690853" y="2705689"/>
            <a:ext cx="1951702" cy="179583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7" name="Text 2"/>
          <p:cNvSpPr/>
          <p:nvPr/>
        </p:nvSpPr>
        <p:spPr>
          <a:xfrm>
            <a:off x="406420" y="1677531"/>
            <a:ext cx="2141751" cy="3377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 algn="ctr">
              <a:lnSpc>
                <a:spcPct val="10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FE8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新增内容操作</a:t>
            </a:r>
            <a:endParaRPr lang="en-US" sz="1440" dirty="0"/>
          </a:p>
        </p:txBody>
      </p:sp>
      <p:sp>
        <p:nvSpPr>
          <p:cNvPr id="8" name="Text 3"/>
          <p:cNvSpPr/>
          <p:nvPr/>
        </p:nvSpPr>
        <p:spPr>
          <a:xfrm>
            <a:off x="406420" y="2015291"/>
            <a:ext cx="2141751" cy="81381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ctr">
              <a:lnSpc>
                <a:spcPct val="131429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FF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通过点击下方+号键</a:t>
            </a:r>
            <a:r>
              <a:rPr lang="en-US" sz="1008" dirty="0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，用户可以快速新增宠物健康管理内容，操作简单直观。</a:t>
            </a:r>
            <a:endParaRPr lang="en-US" sz="1440" dirty="0"/>
          </a:p>
        </p:txBody>
      </p:sp>
      <p:sp>
        <p:nvSpPr>
          <p:cNvPr id="10" name="Text 5"/>
          <p:cNvSpPr/>
          <p:nvPr/>
        </p:nvSpPr>
        <p:spPr>
          <a:xfrm>
            <a:off x="3236147" y="1331402"/>
            <a:ext cx="2671706" cy="421335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 algn="ctr">
              <a:lnSpc>
                <a:spcPct val="10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FFC5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新增内容</a:t>
            </a:r>
            <a:endParaRPr lang="en-US" sz="1440" dirty="0"/>
          </a:p>
        </p:txBody>
      </p:sp>
      <p:sp>
        <p:nvSpPr>
          <p:cNvPr id="11" name="Text 6"/>
          <p:cNvSpPr/>
          <p:nvPr/>
        </p:nvSpPr>
        <p:spPr>
          <a:xfrm>
            <a:off x="3236147" y="1798457"/>
            <a:ext cx="2671706" cy="60350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ctr">
              <a:lnSpc>
                <a:spcPct val="131429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根据实际需求，系统支持添加代表处理任务，帮助用户高效管理宠物健康事项。</a:t>
            </a:r>
            <a:endParaRPr lang="en-US" sz="1440" dirty="0"/>
          </a:p>
        </p:txBody>
      </p:sp>
      <p:sp>
        <p:nvSpPr>
          <p:cNvPr id="13" name="Text 8"/>
          <p:cNvSpPr/>
          <p:nvPr/>
        </p:nvSpPr>
        <p:spPr>
          <a:xfrm>
            <a:off x="6595829" y="1677531"/>
            <a:ext cx="2141751" cy="3377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 algn="ctr">
              <a:lnSpc>
                <a:spcPct val="10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FE8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最终效果</a:t>
            </a:r>
            <a:endParaRPr lang="en-US" sz="1440" dirty="0"/>
          </a:p>
        </p:txBody>
      </p:sp>
      <p:sp>
        <p:nvSpPr>
          <p:cNvPr id="14" name="Text 9"/>
          <p:cNvSpPr/>
          <p:nvPr/>
        </p:nvSpPr>
        <p:spPr>
          <a:xfrm>
            <a:off x="6595829" y="1966752"/>
            <a:ext cx="2141751" cy="997453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>
              <a:lnSpc>
                <a:spcPct val="131429"/>
              </a:lnSpc>
              <a:spcBef>
                <a:spcPts val="360"/>
              </a:spcBef>
            </a:pPr>
            <a:r>
              <a:rPr lang="zh-CN" altLang="en-US" sz="1008" dirty="0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完成内容新增后，首页可见待办任务。</a:t>
            </a:r>
            <a:r>
              <a:rPr lang="en-US" altLang="zh-CN" sz="1008" dirty="0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altLang="zh-CN" sz="1008" dirty="0" err="1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该区域同时支持系统级通知，</a:t>
            </a:r>
            <a:r>
              <a:rPr lang="en-US" altLang="zh-CN" sz="1008" dirty="0" err="1">
                <a:solidFill>
                  <a:srgbClr val="FF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确保提醒能够直达用户，提升照护效率</a:t>
            </a:r>
            <a:r>
              <a:rPr lang="en-US" altLang="zh-CN" sz="1008" dirty="0">
                <a:solidFill>
                  <a:srgbClr val="FF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440" dirty="0">
              <a:solidFill>
                <a:srgbClr val="FF0000"/>
              </a:solidFill>
            </a:endParaRPr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54084" y="2854566"/>
            <a:ext cx="259979" cy="259979"/>
          </a:xfrm>
          <a:prstGeom prst="rect">
            <a:avLst/>
          </a:prstGeom>
        </p:spPr>
      </p:pic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9937" y="2854566"/>
            <a:ext cx="259979" cy="259979"/>
          </a:xfrm>
          <a:prstGeom prst="rect">
            <a:avLst/>
          </a:prstGeom>
        </p:spPr>
      </p:pic>
      <p:sp>
        <p:nvSpPr>
          <p:cNvPr id="18" name="流程图: 接点 17"/>
          <p:cNvSpPr/>
          <p:nvPr/>
        </p:nvSpPr>
        <p:spPr>
          <a:xfrm>
            <a:off x="1044532" y="3576895"/>
            <a:ext cx="744940" cy="697925"/>
          </a:xfrm>
          <a:prstGeom prst="flowChartConnector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流程图: 接点 18"/>
          <p:cNvSpPr/>
          <p:nvPr/>
        </p:nvSpPr>
        <p:spPr>
          <a:xfrm>
            <a:off x="6488635" y="3606574"/>
            <a:ext cx="2314301" cy="1104898"/>
          </a:xfrm>
          <a:prstGeom prst="flowChartConnector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960C393D-0E81-F2B3-5971-4A0E6ADDD87A}"/>
              </a:ext>
            </a:extLst>
          </p:cNvPr>
          <p:cNvGrpSpPr/>
          <p:nvPr/>
        </p:nvGrpSpPr>
        <p:grpSpPr>
          <a:xfrm>
            <a:off x="8176160" y="1038"/>
            <a:ext cx="967840" cy="450056"/>
            <a:chOff x="121444" y="118306"/>
            <a:chExt cx="967840" cy="450056"/>
          </a:xfrm>
        </p:grpSpPr>
        <p:pic>
          <p:nvPicPr>
            <p:cNvPr id="20" name="图片 19">
              <a:extLst>
                <a:ext uri="{FF2B5EF4-FFF2-40B4-BE49-F238E27FC236}">
                  <a16:creationId xmlns:a16="http://schemas.microsoft.com/office/drawing/2014/main" id="{279EC071-1BDB-7D52-0723-D338F4FFEB2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21444" y="118306"/>
              <a:ext cx="450056" cy="450056"/>
            </a:xfrm>
            <a:prstGeom prst="rect">
              <a:avLst/>
            </a:prstGeom>
          </p:spPr>
        </p:pic>
        <p:pic>
          <p:nvPicPr>
            <p:cNvPr id="21" name="图片 20">
              <a:extLst>
                <a:ext uri="{FF2B5EF4-FFF2-40B4-BE49-F238E27FC236}">
                  <a16:creationId xmlns:a16="http://schemas.microsoft.com/office/drawing/2014/main" id="{EEF86285-B598-01D7-FE80-6E202F330CA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39228" y="136560"/>
              <a:ext cx="450056" cy="431802"/>
            </a:xfrm>
            <a:prstGeom prst="rect">
              <a:avLst/>
            </a:prstGeom>
          </p:spPr>
        </p:pic>
      </p:grpSp>
      <p:pic>
        <p:nvPicPr>
          <p:cNvPr id="27" name="图片 26">
            <a:extLst>
              <a:ext uri="{FF2B5EF4-FFF2-40B4-BE49-F238E27FC236}">
                <a16:creationId xmlns:a16="http://schemas.microsoft.com/office/drawing/2014/main" id="{771FA87E-1070-0E78-5496-D9DFCC86DEC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74217" y="2341890"/>
            <a:ext cx="2195565" cy="247001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1354" y="195247"/>
            <a:ext cx="7859123" cy="530723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zh-CN" altLang="en-US" sz="2016" b="1" dirty="0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</a:rPr>
              <a:t>总览与爱宠</a:t>
            </a:r>
            <a:endParaRPr lang="en-US" sz="1440" dirty="0"/>
          </a:p>
        </p:txBody>
      </p:sp>
      <p:pic>
        <p:nvPicPr>
          <p:cNvPr id="3" name="Image 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349" y="843794"/>
            <a:ext cx="2645316" cy="195625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4" name="Imag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348" y="2888318"/>
            <a:ext cx="2645317" cy="212580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7" name="Text 3"/>
          <p:cNvSpPr/>
          <p:nvPr/>
        </p:nvSpPr>
        <p:spPr>
          <a:xfrm>
            <a:off x="5701234" y="843794"/>
            <a:ext cx="3017520" cy="406265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60"/>
              </a:spcBef>
              <a:buNone/>
            </a:pPr>
            <a:r>
              <a:rPr lang="zh-CN" altLang="en-US" sz="1440" b="1" dirty="0">
                <a:solidFill>
                  <a:srgbClr val="FE872E"/>
                </a:solidFill>
                <a:latin typeface="Microsoft Yahei" pitchFamily="34" charset="0"/>
                <a:ea typeface="Microsoft Yahei" pitchFamily="34" charset="-122"/>
              </a:rPr>
              <a:t>总览页面展示</a:t>
            </a:r>
            <a:endParaRPr lang="en-US" sz="1440" dirty="0"/>
          </a:p>
        </p:txBody>
      </p:sp>
      <p:sp>
        <p:nvSpPr>
          <p:cNvPr id="8" name="Text 4"/>
          <p:cNvSpPr/>
          <p:nvPr/>
        </p:nvSpPr>
        <p:spPr>
          <a:xfrm>
            <a:off x="5722536" y="1319143"/>
            <a:ext cx="3126496" cy="1735860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91440" tIns="91440" rIns="91440" bIns="91440" rtlCol="0" anchor="t">
            <a:spAutoFit/>
          </a:bodyPr>
          <a:lstStyle/>
          <a:p>
            <a:pPr>
              <a:lnSpc>
                <a:spcPct val="131429"/>
              </a:lnSpc>
              <a:spcBef>
                <a:spcPts val="360"/>
              </a:spcBef>
            </a:pPr>
            <a:r>
              <a:rPr lang="zh-CN" altLang="en-US" sz="1200" dirty="0">
                <a:solidFill>
                  <a:srgbClr val="FF0000"/>
                </a:solidFill>
                <a:latin typeface="Microsoft Yahei" pitchFamily="34" charset="0"/>
                <a:ea typeface="Microsoft Yahei" pitchFamily="34" charset="-122"/>
              </a:rPr>
              <a:t>点击</a:t>
            </a:r>
            <a:r>
              <a:rPr lang="en-US" altLang="zh-CN" sz="1200" dirty="0" err="1">
                <a:solidFill>
                  <a:srgbClr val="FF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首页下方</a:t>
            </a:r>
            <a:r>
              <a:rPr lang="zh-CN" altLang="en-US" sz="1200" dirty="0">
                <a:solidFill>
                  <a:srgbClr val="FF0000"/>
                </a:solidFill>
                <a:latin typeface="Microsoft Yahei" pitchFamily="34" charset="0"/>
                <a:ea typeface="Microsoft Yahei" pitchFamily="34" charset="-122"/>
              </a:rPr>
              <a:t>总览菜单栏</a:t>
            </a:r>
            <a:r>
              <a:rPr lang="en-US" altLang="zh-CN" sz="1200" dirty="0">
                <a:solidFill>
                  <a:srgbClr val="FF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r>
              <a:rPr lang="zh-CN" altLang="en-US" sz="1200" dirty="0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进入总览页面，</a:t>
            </a:r>
            <a:r>
              <a:rPr lang="en-US" altLang="zh-CN" sz="1200" dirty="0" err="1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用户可以选择特定时间范围生成阶段性健康摘要和照护建议</a:t>
            </a:r>
            <a:r>
              <a:rPr lang="en-US" altLang="zh-CN" sz="1200" dirty="0" err="1">
                <a:solidFill>
                  <a:srgbClr val="FF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。该模块利用AI技术对长期数据进行智能分析，提供有价值的健康管理参考</a:t>
            </a:r>
            <a:r>
              <a:rPr lang="en-US" altLang="zh-CN" sz="1200" dirty="0">
                <a:solidFill>
                  <a:srgbClr val="FF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altLang="zh-CN" sz="1200" dirty="0">
              <a:solidFill>
                <a:srgbClr val="FF0000"/>
              </a:solidFill>
            </a:endParaRPr>
          </a:p>
          <a:p>
            <a:pPr marL="0" indent="0">
              <a:lnSpc>
                <a:spcPct val="131429"/>
              </a:lnSpc>
              <a:spcBef>
                <a:spcPts val="360"/>
              </a:spcBef>
              <a:buNone/>
            </a:pPr>
            <a:endParaRPr lang="en-US" sz="1440" dirty="0"/>
          </a:p>
        </p:txBody>
      </p:sp>
      <p:sp>
        <p:nvSpPr>
          <p:cNvPr id="11" name="Text 7"/>
          <p:cNvSpPr/>
          <p:nvPr/>
        </p:nvSpPr>
        <p:spPr>
          <a:xfrm>
            <a:off x="5701234" y="3122143"/>
            <a:ext cx="3017520" cy="406265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60"/>
              </a:spcBef>
              <a:buNone/>
            </a:pPr>
            <a:r>
              <a:rPr lang="zh-CN" altLang="en-US" sz="1440" b="1" dirty="0">
                <a:solidFill>
                  <a:srgbClr val="FE872E"/>
                </a:solidFill>
                <a:latin typeface="Microsoft Yahei" pitchFamily="34" charset="0"/>
                <a:ea typeface="Microsoft Yahei" pitchFamily="34" charset="-122"/>
              </a:rPr>
              <a:t>爱宠页面展示</a:t>
            </a:r>
            <a:endParaRPr lang="en-US" sz="1440" dirty="0"/>
          </a:p>
        </p:txBody>
      </p:sp>
      <p:sp>
        <p:nvSpPr>
          <p:cNvPr id="12" name="Text 8"/>
          <p:cNvSpPr/>
          <p:nvPr/>
        </p:nvSpPr>
        <p:spPr>
          <a:xfrm>
            <a:off x="5701234" y="3595548"/>
            <a:ext cx="3033142" cy="889731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91440" tIns="91440" rIns="91440" bIns="91440" rtlCol="0" anchor="t">
            <a:spAutoFit/>
          </a:bodyPr>
          <a:lstStyle/>
          <a:p>
            <a:pPr>
              <a:lnSpc>
                <a:spcPct val="131429"/>
              </a:lnSpc>
              <a:spcBef>
                <a:spcPts val="360"/>
              </a:spcBef>
            </a:pPr>
            <a:r>
              <a:rPr lang="zh-CN" altLang="en-US" sz="1200" dirty="0">
                <a:solidFill>
                  <a:srgbClr val="FF0000"/>
                </a:solidFill>
                <a:latin typeface="Microsoft Yahei" pitchFamily="34" charset="0"/>
                <a:ea typeface="Microsoft Yahei" pitchFamily="34" charset="-122"/>
              </a:rPr>
              <a:t>点击</a:t>
            </a:r>
            <a:r>
              <a:rPr lang="en-US" altLang="zh-CN" sz="1200" dirty="0" err="1">
                <a:solidFill>
                  <a:srgbClr val="FF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首页下方</a:t>
            </a:r>
            <a:r>
              <a:rPr lang="zh-CN" altLang="en-US" sz="1200" dirty="0">
                <a:solidFill>
                  <a:srgbClr val="FF0000"/>
                </a:solidFill>
                <a:latin typeface="Microsoft Yahei" pitchFamily="34" charset="0"/>
                <a:ea typeface="Microsoft Yahei" pitchFamily="34" charset="-122"/>
              </a:rPr>
              <a:t>爱宠菜单栏，</a:t>
            </a:r>
            <a:r>
              <a:rPr lang="zh-CN" altLang="en-US" sz="1200" dirty="0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进入爱宠页面，</a:t>
            </a:r>
            <a:r>
              <a:rPr lang="en-US" altLang="zh-CN" sz="1200" dirty="0" err="1">
                <a:solidFill>
                  <a:srgbClr val="FF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爱宠信息页面清晰记录宠物基础资料、健康档案及日常动态，支持一键编辑与更新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13" name="流程图: 接点 12"/>
          <p:cNvSpPr/>
          <p:nvPr/>
        </p:nvSpPr>
        <p:spPr>
          <a:xfrm>
            <a:off x="960119" y="1728599"/>
            <a:ext cx="535571" cy="433006"/>
          </a:xfrm>
          <a:prstGeom prst="flowChartConnector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流程图: 接点 13"/>
          <p:cNvSpPr/>
          <p:nvPr/>
        </p:nvSpPr>
        <p:spPr>
          <a:xfrm>
            <a:off x="1946787" y="3843957"/>
            <a:ext cx="530049" cy="392912"/>
          </a:xfrm>
          <a:prstGeom prst="flowChartConnector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直接箭头连接符 15"/>
          <p:cNvCxnSpPr/>
          <p:nvPr/>
        </p:nvCxnSpPr>
        <p:spPr>
          <a:xfrm flipV="1">
            <a:off x="1592824" y="1415845"/>
            <a:ext cx="1927124" cy="312754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>
            <a:cxnSpLocks/>
          </p:cNvCxnSpPr>
          <p:nvPr/>
        </p:nvCxnSpPr>
        <p:spPr>
          <a:xfrm flipV="1">
            <a:off x="2480075" y="3648177"/>
            <a:ext cx="1326198" cy="24053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组合 4">
            <a:extLst>
              <a:ext uri="{FF2B5EF4-FFF2-40B4-BE49-F238E27FC236}">
                <a16:creationId xmlns:a16="http://schemas.microsoft.com/office/drawing/2014/main" id="{FD21D6A8-6FF7-1326-6623-25E9CC6F71B3}"/>
              </a:ext>
            </a:extLst>
          </p:cNvPr>
          <p:cNvGrpSpPr/>
          <p:nvPr/>
        </p:nvGrpSpPr>
        <p:grpSpPr>
          <a:xfrm>
            <a:off x="8176160" y="1038"/>
            <a:ext cx="967840" cy="450056"/>
            <a:chOff x="121444" y="118306"/>
            <a:chExt cx="967840" cy="450056"/>
          </a:xfrm>
        </p:grpSpPr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1F5C4769-87CE-B4AB-8B61-F62430E572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21444" y="118306"/>
              <a:ext cx="450056" cy="450056"/>
            </a:xfrm>
            <a:prstGeom prst="rect">
              <a:avLst/>
            </a:prstGeom>
          </p:spPr>
        </p:pic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870E46B7-BCA2-9BAA-3D16-47D5679DD73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39228" y="136560"/>
              <a:ext cx="450056" cy="431802"/>
            </a:xfrm>
            <a:prstGeom prst="rect">
              <a:avLst/>
            </a:prstGeom>
          </p:spPr>
        </p:pic>
      </p:grpSp>
      <p:pic>
        <p:nvPicPr>
          <p:cNvPr id="15" name="图片 14">
            <a:extLst>
              <a:ext uri="{FF2B5EF4-FFF2-40B4-BE49-F238E27FC236}">
                <a16:creationId xmlns:a16="http://schemas.microsoft.com/office/drawing/2014/main" id="{E1EEA009-DABD-1C5A-1BEA-3518A44800C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34083" y="101408"/>
            <a:ext cx="1094593" cy="2435469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DCCC3DF7-B1CD-62E1-134C-5792569ED1B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46449" y="2541676"/>
            <a:ext cx="1091309" cy="2428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861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B698FD9D-658A-C372-9CE0-7550BDE510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8377" y="0"/>
            <a:ext cx="2251282" cy="5009103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61354" y="195247"/>
            <a:ext cx="7859123" cy="530723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zh-CN" altLang="en-US" sz="2016" b="1" dirty="0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</a:rPr>
              <a:t>我的与数据备份</a:t>
            </a:r>
            <a:endParaRPr lang="en-US" sz="1440" dirty="0"/>
          </a:p>
        </p:txBody>
      </p:sp>
      <p:sp>
        <p:nvSpPr>
          <p:cNvPr id="7" name="Text 3"/>
          <p:cNvSpPr/>
          <p:nvPr/>
        </p:nvSpPr>
        <p:spPr>
          <a:xfrm>
            <a:off x="489898" y="2961475"/>
            <a:ext cx="3017520" cy="406265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60"/>
              </a:spcBef>
              <a:buNone/>
            </a:pPr>
            <a:r>
              <a:rPr lang="zh-CN" altLang="en-US" sz="1440" b="1" dirty="0">
                <a:solidFill>
                  <a:srgbClr val="FE872E"/>
                </a:solidFill>
                <a:latin typeface="Microsoft Yahei" pitchFamily="34" charset="0"/>
                <a:ea typeface="Microsoft Yahei" pitchFamily="34" charset="-122"/>
              </a:rPr>
              <a:t>我的页面展示</a:t>
            </a:r>
            <a:endParaRPr lang="en-US" sz="1440" dirty="0"/>
          </a:p>
        </p:txBody>
      </p:sp>
      <p:sp>
        <p:nvSpPr>
          <p:cNvPr id="8" name="Text 4"/>
          <p:cNvSpPr/>
          <p:nvPr/>
        </p:nvSpPr>
        <p:spPr>
          <a:xfrm>
            <a:off x="329623" y="3415941"/>
            <a:ext cx="3033142" cy="1042337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91440" tIns="91440" rIns="91440" bIns="91440" rtlCol="0" anchor="t">
            <a:spAutoFit/>
          </a:bodyPr>
          <a:lstStyle/>
          <a:p>
            <a:pPr>
              <a:lnSpc>
                <a:spcPct val="131429"/>
              </a:lnSpc>
              <a:spcBef>
                <a:spcPts val="360"/>
              </a:spcBef>
            </a:pPr>
            <a:r>
              <a:rPr lang="zh-CN" altLang="en-US" sz="1000" dirty="0">
                <a:solidFill>
                  <a:srgbClr val="FF0000"/>
                </a:solidFill>
                <a:latin typeface="Microsoft Yahei" pitchFamily="34" charset="0"/>
                <a:ea typeface="Microsoft Yahei" pitchFamily="34" charset="-122"/>
              </a:rPr>
              <a:t>点击</a:t>
            </a:r>
            <a:r>
              <a:rPr lang="en-US" altLang="zh-CN" sz="1000" dirty="0" err="1">
                <a:solidFill>
                  <a:srgbClr val="FF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首页下方</a:t>
            </a:r>
            <a:r>
              <a:rPr lang="zh-CN" altLang="en-US" sz="1000" dirty="0">
                <a:solidFill>
                  <a:srgbClr val="FF0000"/>
                </a:solidFill>
                <a:latin typeface="Microsoft Yahei" pitchFamily="34" charset="0"/>
                <a:ea typeface="Microsoft Yahei" pitchFamily="34" charset="-122"/>
              </a:rPr>
              <a:t>总览菜单栏</a:t>
            </a:r>
            <a:r>
              <a:rPr lang="en-US" altLang="zh-CN" sz="1000" dirty="0">
                <a:solidFill>
                  <a:srgbClr val="FF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r>
              <a:rPr lang="zh-CN" altLang="en-US" sz="1000" dirty="0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进入我的页面，可按用户需求</a:t>
            </a:r>
            <a:r>
              <a:rPr lang="zh-CN" altLang="en-US" sz="1000" dirty="0">
                <a:solidFill>
                  <a:srgbClr val="FF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改变主题外观颜色，提高用户使用舒适性。</a:t>
            </a:r>
            <a:endParaRPr lang="en-US" altLang="zh-CN" sz="1000" dirty="0">
              <a:solidFill>
                <a:srgbClr val="FF0000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>
              <a:lnSpc>
                <a:spcPct val="131429"/>
              </a:lnSpc>
              <a:spcBef>
                <a:spcPts val="360"/>
              </a:spcBef>
            </a:pPr>
            <a:r>
              <a:rPr lang="zh-CN" altLang="en-US" sz="1000" dirty="0">
                <a:latin typeface="Microsoft Yahei" pitchFamily="34" charset="0"/>
                <a:ea typeface="Microsoft Yahei" pitchFamily="34" charset="-122"/>
              </a:rPr>
              <a:t>其中还设有</a:t>
            </a:r>
            <a:r>
              <a:rPr lang="en-US" altLang="zh-CN" sz="1000" dirty="0">
                <a:solidFill>
                  <a:srgbClr val="FF0000"/>
                </a:solidFill>
                <a:latin typeface="Microsoft Yahei" pitchFamily="34" charset="0"/>
                <a:ea typeface="Microsoft Yahei" pitchFamily="34" charset="-122"/>
              </a:rPr>
              <a:t>AI</a:t>
            </a:r>
            <a:r>
              <a:rPr lang="zh-CN" altLang="en-US" sz="1000" dirty="0">
                <a:solidFill>
                  <a:srgbClr val="FF0000"/>
                </a:solidFill>
                <a:latin typeface="Microsoft Yahei" pitchFamily="34" charset="0"/>
                <a:ea typeface="Microsoft Yahei" pitchFamily="34" charset="-122"/>
              </a:rPr>
              <a:t>配置、通知提醒、数据备份</a:t>
            </a:r>
            <a:r>
              <a:rPr lang="zh-CN" altLang="en-US" sz="1000" dirty="0">
                <a:latin typeface="Microsoft Yahei" pitchFamily="34" charset="0"/>
                <a:ea typeface="Microsoft Yahei" pitchFamily="34" charset="-122"/>
              </a:rPr>
              <a:t>功能，用户可按需设置。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6265271" y="637452"/>
            <a:ext cx="3017520" cy="406265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60"/>
              </a:spcBef>
              <a:buNone/>
            </a:pPr>
            <a:r>
              <a:rPr lang="en-US" sz="1440" b="1" dirty="0" err="1">
                <a:solidFill>
                  <a:srgbClr val="FE8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</a:t>
            </a:r>
            <a:r>
              <a:rPr lang="zh-CN" altLang="en-US" sz="1440" b="1" dirty="0">
                <a:solidFill>
                  <a:srgbClr val="FE8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与存储</a:t>
            </a:r>
            <a:endParaRPr lang="en-US" sz="1440" dirty="0"/>
          </a:p>
        </p:txBody>
      </p:sp>
      <p:sp>
        <p:nvSpPr>
          <p:cNvPr id="12" name="Text 8"/>
          <p:cNvSpPr/>
          <p:nvPr/>
        </p:nvSpPr>
        <p:spPr>
          <a:xfrm>
            <a:off x="6267646" y="972437"/>
            <a:ext cx="2634611" cy="789447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91440" tIns="91440" rIns="91440" bIns="91440" rtlCol="0" anchor="t">
            <a:spAutoFit/>
          </a:bodyPr>
          <a:lstStyle/>
          <a:p>
            <a:pPr>
              <a:lnSpc>
                <a:spcPct val="131429"/>
              </a:lnSpc>
              <a:spcBef>
                <a:spcPts val="360"/>
              </a:spcBef>
            </a:pPr>
            <a:r>
              <a:rPr lang="zh-CN" altLang="en-US" sz="1000" dirty="0">
                <a:solidFill>
                  <a:srgbClr val="FF0000"/>
                </a:solidFill>
              </a:rPr>
              <a:t>点击数据备份进入数据与储存页面</a:t>
            </a:r>
            <a:r>
              <a:rPr lang="zh-CN" altLang="en-US" sz="1000" dirty="0"/>
              <a:t>，可按需查找执行的数据操作，可一键导出数据或文件 恢复。</a:t>
            </a:r>
            <a:r>
              <a:rPr lang="zh-CN" altLang="en-US" sz="1000" dirty="0">
                <a:solidFill>
                  <a:srgbClr val="FF0000"/>
                </a:solidFill>
              </a:rPr>
              <a:t>解决</a:t>
            </a:r>
            <a:r>
              <a:rPr lang="zh-CN" altLang="zh-CN" sz="1000" dirty="0">
                <a:solidFill>
                  <a:srgbClr val="FF0000"/>
                </a:solidFill>
              </a:rPr>
              <a:t>换机迁移和误删风险</a:t>
            </a:r>
            <a:r>
              <a:rPr lang="zh-CN" altLang="en-US" sz="1000" dirty="0">
                <a:solidFill>
                  <a:srgbClr val="FF0000"/>
                </a:solidFill>
              </a:rPr>
              <a:t>。</a:t>
            </a:r>
            <a:endParaRPr lang="en-US" sz="1000" dirty="0">
              <a:solidFill>
                <a:srgbClr val="FF0000"/>
              </a:solidFill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538"/>
          <a:stretch/>
        </p:blipFill>
        <p:spPr>
          <a:xfrm>
            <a:off x="337247" y="848462"/>
            <a:ext cx="2885942" cy="155308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7" name="流程图: 接点 16"/>
          <p:cNvSpPr/>
          <p:nvPr/>
        </p:nvSpPr>
        <p:spPr>
          <a:xfrm>
            <a:off x="2532035" y="1738948"/>
            <a:ext cx="535571" cy="433006"/>
          </a:xfrm>
          <a:prstGeom prst="flowChartConnector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流程图: 接点 17"/>
          <p:cNvSpPr/>
          <p:nvPr/>
        </p:nvSpPr>
        <p:spPr>
          <a:xfrm>
            <a:off x="3781476" y="2867200"/>
            <a:ext cx="2116404" cy="530856"/>
          </a:xfrm>
          <a:prstGeom prst="flowChartConnector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9" name="直接箭头连接符 18"/>
          <p:cNvCxnSpPr/>
          <p:nvPr/>
        </p:nvCxnSpPr>
        <p:spPr>
          <a:xfrm flipV="1">
            <a:off x="2974543" y="1185550"/>
            <a:ext cx="806933" cy="780436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/>
          <p:nvPr/>
        </p:nvCxnSpPr>
        <p:spPr>
          <a:xfrm>
            <a:off x="5690497" y="3288324"/>
            <a:ext cx="1047848" cy="386337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组合 2">
            <a:extLst>
              <a:ext uri="{FF2B5EF4-FFF2-40B4-BE49-F238E27FC236}">
                <a16:creationId xmlns:a16="http://schemas.microsoft.com/office/drawing/2014/main" id="{89366C78-D6AE-1E3A-7704-F78047D618B5}"/>
              </a:ext>
            </a:extLst>
          </p:cNvPr>
          <p:cNvGrpSpPr/>
          <p:nvPr/>
        </p:nvGrpSpPr>
        <p:grpSpPr>
          <a:xfrm>
            <a:off x="8176160" y="1038"/>
            <a:ext cx="967840" cy="450056"/>
            <a:chOff x="121444" y="118306"/>
            <a:chExt cx="967840" cy="450056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895F53D1-77BB-C2E3-20F9-76BE3BD97EB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21444" y="118306"/>
              <a:ext cx="450056" cy="450056"/>
            </a:xfrm>
            <a:prstGeom prst="rect">
              <a:avLst/>
            </a:prstGeom>
          </p:spPr>
        </p:pic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4AD37C21-551F-B739-1D28-1C5B33F6A24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39228" y="136560"/>
              <a:ext cx="450056" cy="431802"/>
            </a:xfrm>
            <a:prstGeom prst="rect">
              <a:avLst/>
            </a:prstGeom>
          </p:spPr>
        </p:pic>
      </p:grpSp>
      <p:pic>
        <p:nvPicPr>
          <p:cNvPr id="15" name="图片 14">
            <a:extLst>
              <a:ext uri="{FF2B5EF4-FFF2-40B4-BE49-F238E27FC236}">
                <a16:creationId xmlns:a16="http://schemas.microsoft.com/office/drawing/2014/main" id="{827F6236-F2CE-4893-4161-EEB72F553EB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38482" y="1734945"/>
            <a:ext cx="1687544" cy="3285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98595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78652" y="2312332"/>
            <a:ext cx="4786696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测试验证与计划</a:t>
            </a:r>
            <a:endParaRPr lang="en-US" sz="1440" dirty="0"/>
          </a:p>
        </p:txBody>
      </p:sp>
      <p:sp>
        <p:nvSpPr>
          <p:cNvPr id="3" name="Text 1"/>
          <p:cNvSpPr/>
          <p:nvPr/>
        </p:nvSpPr>
        <p:spPr>
          <a:xfrm>
            <a:off x="3464679" y="1146472"/>
            <a:ext cx="2214642" cy="147218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ctr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6768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40" dirty="0"/>
          </a:p>
        </p:txBody>
      </p:sp>
      <p:sp>
        <p:nvSpPr>
          <p:cNvPr id="4" name="Shape 2"/>
          <p:cNvSpPr/>
          <p:nvPr/>
        </p:nvSpPr>
        <p:spPr>
          <a:xfrm>
            <a:off x="4393087" y="3192356"/>
            <a:ext cx="357826" cy="45720"/>
          </a:xfrm>
          <a:custGeom>
            <a:avLst/>
            <a:gdLst/>
            <a:ahLst/>
            <a:cxnLst/>
            <a:rect l="l" t="t" r="r" b="b"/>
            <a:pathLst>
              <a:path w="357826" h="45720">
                <a:moveTo>
                  <a:pt x="0" y="0"/>
                </a:moveTo>
                <a:moveTo>
                  <a:pt x="0" y="0"/>
                </a:moveTo>
                <a:lnTo>
                  <a:pt x="357826" y="0"/>
                </a:lnTo>
              </a:path>
            </a:pathLst>
          </a:custGeom>
          <a:noFill/>
          <a:ln w="28575">
            <a:solidFill>
              <a:srgbClr val="FDFCA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4081287F-AEF3-5544-3131-F77EF08C30A6}"/>
              </a:ext>
            </a:extLst>
          </p:cNvPr>
          <p:cNvGrpSpPr/>
          <p:nvPr/>
        </p:nvGrpSpPr>
        <p:grpSpPr>
          <a:xfrm>
            <a:off x="8176160" y="1038"/>
            <a:ext cx="967840" cy="450056"/>
            <a:chOff x="121444" y="118306"/>
            <a:chExt cx="967840" cy="450056"/>
          </a:xfrm>
        </p:grpSpPr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94527A44-B82C-D365-BD55-2B0CD4691E3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1444" y="118306"/>
              <a:ext cx="450056" cy="450056"/>
            </a:xfrm>
            <a:prstGeom prst="rect">
              <a:avLst/>
            </a:prstGeom>
          </p:spPr>
        </p:pic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A370987C-9905-6024-3F84-320ACC2FE8D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39228" y="136560"/>
              <a:ext cx="450056" cy="43180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1354" y="195247"/>
            <a:ext cx="7859123" cy="56692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016" b="1" dirty="0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测试体系与结论</a:t>
            </a:r>
            <a:endParaRPr lang="en-US" sz="144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280" y="1177557"/>
            <a:ext cx="8485441" cy="95909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893066" y="1106493"/>
            <a:ext cx="682508" cy="103327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ctr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4464" b="1" i="1" dirty="0">
                <a:solidFill>
                  <a:srgbClr val="FE8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40" dirty="0"/>
          </a:p>
        </p:txBody>
      </p:sp>
      <p:sp>
        <p:nvSpPr>
          <p:cNvPr id="5" name="Shape 2"/>
          <p:cNvSpPr/>
          <p:nvPr/>
        </p:nvSpPr>
        <p:spPr>
          <a:xfrm>
            <a:off x="8821224" y="1379939"/>
            <a:ext cx="45720" cy="530087"/>
          </a:xfrm>
          <a:custGeom>
            <a:avLst/>
            <a:gdLst/>
            <a:ahLst/>
            <a:cxnLst/>
            <a:rect l="l" t="t" r="r" b="b"/>
            <a:pathLst>
              <a:path w="45720" h="530087">
                <a:moveTo>
                  <a:pt x="0" y="0"/>
                </a:moveTo>
                <a:moveTo>
                  <a:pt x="0" y="0"/>
                </a:moveTo>
                <a:lnTo>
                  <a:pt x="0" y="530087"/>
                </a:lnTo>
              </a:path>
            </a:pathLst>
          </a:custGeom>
          <a:noFill/>
          <a:ln w="59333">
            <a:solidFill>
              <a:srgbClr val="FE872E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3"/>
          <p:cNvSpPr/>
          <p:nvPr/>
        </p:nvSpPr>
        <p:spPr>
          <a:xfrm>
            <a:off x="517789" y="967604"/>
            <a:ext cx="4236009" cy="417704"/>
          </a:xfrm>
          <a:custGeom>
            <a:avLst/>
            <a:gdLst/>
            <a:ahLst/>
            <a:cxnLst/>
            <a:rect l="l" t="t" r="r" b="b"/>
            <a:pathLst>
              <a:path w="4236009" h="417704">
                <a:moveTo>
                  <a:pt x="128110" y="0"/>
                </a:moveTo>
                <a:moveTo>
                  <a:pt x="128110" y="0"/>
                </a:moveTo>
                <a:lnTo>
                  <a:pt x="4107899" y="0"/>
                </a:lnTo>
                <a:quadBezTo>
                  <a:pt x="4236009" y="0"/>
                  <a:pt x="4236009" y="128110"/>
                </a:quadBezTo>
                <a:lnTo>
                  <a:pt x="4236009" y="289594"/>
                </a:lnTo>
                <a:quadBezTo>
                  <a:pt x="4236009" y="417704"/>
                  <a:pt x="4107899" y="417704"/>
                </a:quadBezTo>
                <a:lnTo>
                  <a:pt x="128110" y="417704"/>
                </a:lnTo>
                <a:quadBezTo>
                  <a:pt x="0" y="417704"/>
                  <a:pt x="0" y="289594"/>
                </a:quadBezTo>
                <a:lnTo>
                  <a:pt x="0" y="128110"/>
                </a:lnTo>
                <a:quadBezTo>
                  <a:pt x="0" y="0"/>
                  <a:pt x="128110" y="0"/>
                </a:quadBezTo>
                <a:close/>
              </a:path>
            </a:pathLst>
          </a:custGeom>
          <a:solidFill>
            <a:srgbClr val="FE87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4"/>
          <p:cNvSpPr/>
          <p:nvPr/>
        </p:nvSpPr>
        <p:spPr>
          <a:xfrm>
            <a:off x="5119699" y="1356828"/>
            <a:ext cx="828261" cy="45720"/>
          </a:xfrm>
          <a:custGeom>
            <a:avLst/>
            <a:gdLst/>
            <a:ahLst/>
            <a:cxnLst/>
            <a:rect l="l" t="t" r="r" b="b"/>
            <a:pathLst>
              <a:path w="828261" h="45720">
                <a:moveTo>
                  <a:pt x="0" y="0"/>
                </a:moveTo>
                <a:moveTo>
                  <a:pt x="0" y="0"/>
                </a:moveTo>
                <a:lnTo>
                  <a:pt x="828261" y="0"/>
                </a:lnTo>
              </a:path>
            </a:pathLst>
          </a:custGeom>
          <a:noFill/>
          <a:ln w="19778">
            <a:solidFill>
              <a:srgbClr val="FE872E">
                <a:alpha val="10196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001" y="2483684"/>
            <a:ext cx="8485441" cy="95909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90731" y="2412620"/>
            <a:ext cx="682508" cy="103327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ctr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4464" b="1" i="1" dirty="0">
                <a:solidFill>
                  <a:srgbClr val="FE8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40" dirty="0"/>
          </a:p>
        </p:txBody>
      </p:sp>
      <p:sp>
        <p:nvSpPr>
          <p:cNvPr id="10" name="Shape 6"/>
          <p:cNvSpPr/>
          <p:nvPr/>
        </p:nvSpPr>
        <p:spPr>
          <a:xfrm>
            <a:off x="355674" y="2688063"/>
            <a:ext cx="45720" cy="530087"/>
          </a:xfrm>
          <a:custGeom>
            <a:avLst/>
            <a:gdLst/>
            <a:ahLst/>
            <a:cxnLst/>
            <a:rect l="l" t="t" r="r" b="b"/>
            <a:pathLst>
              <a:path w="45720" h="530087">
                <a:moveTo>
                  <a:pt x="0" y="0"/>
                </a:moveTo>
                <a:moveTo>
                  <a:pt x="0" y="0"/>
                </a:moveTo>
                <a:lnTo>
                  <a:pt x="0" y="530087"/>
                </a:lnTo>
              </a:path>
            </a:pathLst>
          </a:custGeom>
          <a:noFill/>
          <a:ln w="59333">
            <a:solidFill>
              <a:srgbClr val="FFC53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7"/>
          <p:cNvSpPr/>
          <p:nvPr/>
        </p:nvSpPr>
        <p:spPr>
          <a:xfrm>
            <a:off x="4181712" y="2274832"/>
            <a:ext cx="4235897" cy="417704"/>
          </a:xfrm>
          <a:custGeom>
            <a:avLst/>
            <a:gdLst/>
            <a:ahLst/>
            <a:cxnLst/>
            <a:rect l="l" t="t" r="r" b="b"/>
            <a:pathLst>
              <a:path w="4235897" h="417704">
                <a:moveTo>
                  <a:pt x="128110" y="0"/>
                </a:moveTo>
                <a:moveTo>
                  <a:pt x="128110" y="0"/>
                </a:moveTo>
                <a:lnTo>
                  <a:pt x="4107787" y="0"/>
                </a:lnTo>
                <a:quadBezTo>
                  <a:pt x="4235897" y="0"/>
                  <a:pt x="4235897" y="128110"/>
                </a:quadBezTo>
                <a:lnTo>
                  <a:pt x="4235897" y="289594"/>
                </a:lnTo>
                <a:quadBezTo>
                  <a:pt x="4235897" y="417704"/>
                  <a:pt x="4107787" y="417704"/>
                </a:quadBezTo>
                <a:lnTo>
                  <a:pt x="128110" y="417704"/>
                </a:lnTo>
                <a:quadBezTo>
                  <a:pt x="0" y="417704"/>
                  <a:pt x="0" y="289594"/>
                </a:quadBezTo>
                <a:lnTo>
                  <a:pt x="0" y="128110"/>
                </a:lnTo>
                <a:quadBezTo>
                  <a:pt x="0" y="0"/>
                  <a:pt x="128110" y="0"/>
                </a:quadBezTo>
                <a:close/>
              </a:path>
            </a:pathLst>
          </a:custGeom>
          <a:solidFill>
            <a:srgbClr val="FFC53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8"/>
          <p:cNvSpPr/>
          <p:nvPr/>
        </p:nvSpPr>
        <p:spPr>
          <a:xfrm>
            <a:off x="2950918" y="2649816"/>
            <a:ext cx="828261" cy="45720"/>
          </a:xfrm>
          <a:custGeom>
            <a:avLst/>
            <a:gdLst/>
            <a:ahLst/>
            <a:cxnLst/>
            <a:rect l="l" t="t" r="r" b="b"/>
            <a:pathLst>
              <a:path w="828261" h="45720">
                <a:moveTo>
                  <a:pt x="0" y="0"/>
                </a:moveTo>
                <a:moveTo>
                  <a:pt x="0" y="0"/>
                </a:moveTo>
                <a:lnTo>
                  <a:pt x="828261" y="0"/>
                </a:lnTo>
              </a:path>
            </a:pathLst>
          </a:custGeom>
          <a:noFill/>
          <a:ln w="19778">
            <a:solidFill>
              <a:srgbClr val="FE872E">
                <a:alpha val="10196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558" y="3790912"/>
            <a:ext cx="8485441" cy="95909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866008" y="3719848"/>
            <a:ext cx="682508" cy="103327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ctr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4464" b="1" i="1" dirty="0">
                <a:solidFill>
                  <a:srgbClr val="FE8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40" dirty="0"/>
          </a:p>
        </p:txBody>
      </p:sp>
      <p:sp>
        <p:nvSpPr>
          <p:cNvPr id="15" name="Shape 10"/>
          <p:cNvSpPr/>
          <p:nvPr/>
        </p:nvSpPr>
        <p:spPr>
          <a:xfrm>
            <a:off x="8794166" y="3993294"/>
            <a:ext cx="45720" cy="530087"/>
          </a:xfrm>
          <a:custGeom>
            <a:avLst/>
            <a:gdLst/>
            <a:ahLst/>
            <a:cxnLst/>
            <a:rect l="l" t="t" r="r" b="b"/>
            <a:pathLst>
              <a:path w="45720" h="530087">
                <a:moveTo>
                  <a:pt x="0" y="0"/>
                </a:moveTo>
                <a:moveTo>
                  <a:pt x="0" y="0"/>
                </a:moveTo>
                <a:lnTo>
                  <a:pt x="0" y="530087"/>
                </a:lnTo>
              </a:path>
            </a:pathLst>
          </a:custGeom>
          <a:noFill/>
          <a:ln w="59333">
            <a:solidFill>
              <a:srgbClr val="FE872E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1"/>
          <p:cNvSpPr/>
          <p:nvPr/>
        </p:nvSpPr>
        <p:spPr>
          <a:xfrm>
            <a:off x="5135088" y="3951197"/>
            <a:ext cx="828261" cy="45720"/>
          </a:xfrm>
          <a:custGeom>
            <a:avLst/>
            <a:gdLst/>
            <a:ahLst/>
            <a:cxnLst/>
            <a:rect l="l" t="t" r="r" b="b"/>
            <a:pathLst>
              <a:path w="828261" h="45720">
                <a:moveTo>
                  <a:pt x="0" y="0"/>
                </a:moveTo>
                <a:moveTo>
                  <a:pt x="0" y="0"/>
                </a:moveTo>
                <a:lnTo>
                  <a:pt x="828261" y="0"/>
                </a:lnTo>
              </a:path>
            </a:pathLst>
          </a:custGeom>
          <a:noFill/>
          <a:ln w="19778">
            <a:solidFill>
              <a:srgbClr val="FE872E">
                <a:alpha val="10196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2"/>
          <p:cNvSpPr/>
          <p:nvPr/>
        </p:nvSpPr>
        <p:spPr>
          <a:xfrm>
            <a:off x="490731" y="3580959"/>
            <a:ext cx="4235897" cy="417704"/>
          </a:xfrm>
          <a:custGeom>
            <a:avLst/>
            <a:gdLst/>
            <a:ahLst/>
            <a:cxnLst/>
            <a:rect l="l" t="t" r="r" b="b"/>
            <a:pathLst>
              <a:path w="4235897" h="417704">
                <a:moveTo>
                  <a:pt x="128110" y="0"/>
                </a:moveTo>
                <a:moveTo>
                  <a:pt x="128110" y="0"/>
                </a:moveTo>
                <a:lnTo>
                  <a:pt x="4107787" y="0"/>
                </a:lnTo>
                <a:quadBezTo>
                  <a:pt x="4235897" y="0"/>
                  <a:pt x="4235897" y="128110"/>
                </a:quadBezTo>
                <a:lnTo>
                  <a:pt x="4235897" y="289594"/>
                </a:lnTo>
                <a:quadBezTo>
                  <a:pt x="4235897" y="417704"/>
                  <a:pt x="4107787" y="417704"/>
                </a:quadBezTo>
                <a:lnTo>
                  <a:pt x="128110" y="417704"/>
                </a:lnTo>
                <a:quadBezTo>
                  <a:pt x="0" y="417704"/>
                  <a:pt x="0" y="289594"/>
                </a:quadBezTo>
                <a:lnTo>
                  <a:pt x="0" y="128110"/>
                </a:lnTo>
                <a:quadBezTo>
                  <a:pt x="0" y="0"/>
                  <a:pt x="128110" y="0"/>
                </a:quadBezTo>
                <a:close/>
              </a:path>
            </a:pathLst>
          </a:custGeom>
          <a:solidFill>
            <a:srgbClr val="FE87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3"/>
          <p:cNvSpPr/>
          <p:nvPr/>
        </p:nvSpPr>
        <p:spPr>
          <a:xfrm>
            <a:off x="517789" y="967604"/>
            <a:ext cx="4235897" cy="38922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 algn="ctr">
              <a:lnSpc>
                <a:spcPct val="10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测试目标</a:t>
            </a:r>
            <a:endParaRPr lang="en-US" sz="1440" dirty="0"/>
          </a:p>
        </p:txBody>
      </p:sp>
      <p:sp>
        <p:nvSpPr>
          <p:cNvPr id="19" name="Text 14"/>
          <p:cNvSpPr/>
          <p:nvPr/>
        </p:nvSpPr>
        <p:spPr>
          <a:xfrm>
            <a:off x="517789" y="1378221"/>
            <a:ext cx="7137907" cy="64780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31429"/>
              </a:lnSpc>
              <a:spcBef>
                <a:spcPts val="360"/>
              </a:spcBef>
              <a:buNone/>
            </a:pPr>
            <a:r>
              <a:rPr lang="en-US" sz="1200" dirty="0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测试工作围绕“功能正确、流程顺畅、平台可运行、关键数据安全”四个目标展开，重点验证宠物档案、记录流程、提醒调度、AI生成、数据导入导出和异常诊断链路。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4181712" y="2289072"/>
            <a:ext cx="4235897" cy="38922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 algn="ctr">
              <a:lnSpc>
                <a:spcPct val="10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测试维度</a:t>
            </a:r>
            <a:endParaRPr lang="en-US" sz="1440" dirty="0"/>
          </a:p>
        </p:txBody>
      </p:sp>
      <p:sp>
        <p:nvSpPr>
          <p:cNvPr id="21" name="Text 16"/>
          <p:cNvSpPr/>
          <p:nvPr/>
        </p:nvSpPr>
        <p:spPr>
          <a:xfrm>
            <a:off x="1179396" y="2692365"/>
            <a:ext cx="7212987" cy="4058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r">
              <a:lnSpc>
                <a:spcPct val="131429"/>
              </a:lnSpc>
              <a:spcBef>
                <a:spcPts val="360"/>
              </a:spcBef>
              <a:buNone/>
            </a:pPr>
            <a:r>
              <a:rPr lang="en-US" sz="1200" dirty="0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功能测试：建档、记录、编辑、删除、提醒、AI总览、数据备份恢复。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490731" y="3580959"/>
            <a:ext cx="4235897" cy="38922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 algn="ctr">
              <a:lnSpc>
                <a:spcPct val="10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测试结论</a:t>
            </a:r>
            <a:endParaRPr lang="en-US" sz="1440" dirty="0"/>
          </a:p>
        </p:txBody>
      </p:sp>
      <p:sp>
        <p:nvSpPr>
          <p:cNvPr id="23" name="Text 18"/>
          <p:cNvSpPr/>
          <p:nvPr/>
        </p:nvSpPr>
        <p:spPr>
          <a:xfrm>
            <a:off x="490731" y="3965920"/>
            <a:ext cx="7368110" cy="889731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31429"/>
              </a:lnSpc>
              <a:spcBef>
                <a:spcPts val="360"/>
              </a:spcBef>
              <a:buNone/>
            </a:pPr>
            <a:r>
              <a:rPr lang="en-US" sz="1200" dirty="0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当前工程实现与配套测试文件来看，项目已具备较完整的核心链路验证基础，能够支持比赛展示和后续迭代开发。特别是在提醒、数据管理、AI配置与日志诊断等模块上，项目不仅实现了功能，也对失败场景和恢复路径做了补强，整体成熟度高于一般课程原型。</a:t>
            </a:r>
            <a:endParaRPr lang="en-US" sz="1200" dirty="0"/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8B92F4FD-0D9E-B152-0417-F482DB07797B}"/>
              </a:ext>
            </a:extLst>
          </p:cNvPr>
          <p:cNvGrpSpPr/>
          <p:nvPr/>
        </p:nvGrpSpPr>
        <p:grpSpPr>
          <a:xfrm>
            <a:off x="8176160" y="1038"/>
            <a:ext cx="967840" cy="450056"/>
            <a:chOff x="121444" y="118306"/>
            <a:chExt cx="967840" cy="450056"/>
          </a:xfrm>
        </p:grpSpPr>
        <p:pic>
          <p:nvPicPr>
            <p:cNvPr id="25" name="图片 24">
              <a:extLst>
                <a:ext uri="{FF2B5EF4-FFF2-40B4-BE49-F238E27FC236}">
                  <a16:creationId xmlns:a16="http://schemas.microsoft.com/office/drawing/2014/main" id="{F3C7DBAC-954D-3AD4-2B16-1B044ED1EC9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21444" y="118306"/>
              <a:ext cx="450056" cy="450056"/>
            </a:xfrm>
            <a:prstGeom prst="rect">
              <a:avLst/>
            </a:prstGeom>
          </p:spPr>
        </p:pic>
        <p:pic>
          <p:nvPicPr>
            <p:cNvPr id="26" name="图片 25">
              <a:extLst>
                <a:ext uri="{FF2B5EF4-FFF2-40B4-BE49-F238E27FC236}">
                  <a16:creationId xmlns:a16="http://schemas.microsoft.com/office/drawing/2014/main" id="{CA55A20E-A37A-70C9-B423-087C5631B26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39228" y="136560"/>
              <a:ext cx="450056" cy="43180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1354" y="195247"/>
            <a:ext cx="7859123" cy="56692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016" b="1" dirty="0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下一阶段开发计划</a:t>
            </a:r>
            <a:endParaRPr lang="en-US" sz="1440" dirty="0"/>
          </a:p>
        </p:txBody>
      </p:sp>
      <p:sp>
        <p:nvSpPr>
          <p:cNvPr id="3" name="Shape 1"/>
          <p:cNvSpPr/>
          <p:nvPr/>
        </p:nvSpPr>
        <p:spPr>
          <a:xfrm>
            <a:off x="262889" y="963275"/>
            <a:ext cx="4259020" cy="1739254"/>
          </a:xfrm>
          <a:custGeom>
            <a:avLst/>
            <a:gdLst/>
            <a:ahLst/>
            <a:cxnLst/>
            <a:rect l="l" t="t" r="r" b="b"/>
            <a:pathLst>
              <a:path w="4259020" h="1739254">
                <a:moveTo>
                  <a:pt x="191848" y="0"/>
                </a:moveTo>
                <a:moveTo>
                  <a:pt x="191848" y="0"/>
                </a:moveTo>
                <a:lnTo>
                  <a:pt x="4067172" y="0"/>
                </a:lnTo>
                <a:quadBezTo>
                  <a:pt x="4259020" y="0"/>
                  <a:pt x="4259020" y="217407"/>
                </a:quadBezTo>
                <a:lnTo>
                  <a:pt x="4259020" y="1521847"/>
                </a:lnTo>
                <a:quadBezTo>
                  <a:pt x="4259020" y="1739254"/>
                  <a:pt x="4067172" y="1739254"/>
                </a:quadBezTo>
                <a:lnTo>
                  <a:pt x="191848" y="1739254"/>
                </a:lnTo>
                <a:quadBezTo>
                  <a:pt x="0" y="1739254"/>
                  <a:pt x="0" y="1521847"/>
                </a:quadBezTo>
                <a:lnTo>
                  <a:pt x="0" y="217407"/>
                </a:lnTo>
                <a:quadBezTo>
                  <a:pt x="0" y="0"/>
                  <a:pt x="191848" y="0"/>
                </a:quadBezTo>
                <a:close/>
              </a:path>
            </a:pathLst>
          </a:custGeom>
          <a:solidFill>
            <a:srgbClr val="FE872E">
              <a:alpha val="0"/>
            </a:srgbClr>
          </a:solidFill>
          <a:ln w="19050">
            <a:solidFill>
              <a:srgbClr val="FE872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-8100000">
            <a:off x="3951420" y="2256917"/>
            <a:ext cx="539894" cy="31016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62785" y="2826285"/>
            <a:ext cx="4259275" cy="1739189"/>
          </a:xfrm>
          <a:custGeom>
            <a:avLst/>
            <a:gdLst/>
            <a:ahLst/>
            <a:cxnLst/>
            <a:rect l="l" t="t" r="r" b="b"/>
            <a:pathLst>
              <a:path w="4259275" h="1739189">
                <a:moveTo>
                  <a:pt x="217399" y="0"/>
                </a:moveTo>
                <a:moveTo>
                  <a:pt x="217399" y="0"/>
                </a:moveTo>
                <a:lnTo>
                  <a:pt x="4041877" y="0"/>
                </a:lnTo>
                <a:quadBezTo>
                  <a:pt x="4259275" y="0"/>
                  <a:pt x="4259275" y="217399"/>
                </a:quadBezTo>
                <a:lnTo>
                  <a:pt x="4259275" y="1521790"/>
                </a:lnTo>
                <a:quadBezTo>
                  <a:pt x="4259275" y="1739189"/>
                  <a:pt x="4041877" y="1739189"/>
                </a:quadBezTo>
                <a:lnTo>
                  <a:pt x="217399" y="1739189"/>
                </a:lnTo>
                <a:quadBezTo>
                  <a:pt x="0" y="1739189"/>
                  <a:pt x="0" y="1521790"/>
                </a:quadBezTo>
                <a:lnTo>
                  <a:pt x="0" y="217399"/>
                </a:lnTo>
                <a:quadBezTo>
                  <a:pt x="0" y="0"/>
                  <a:pt x="217399" y="0"/>
                </a:quadBezTo>
                <a:close/>
              </a:path>
            </a:pathLst>
          </a:custGeom>
          <a:solidFill>
            <a:srgbClr val="FE872E">
              <a:alpha val="0"/>
            </a:srgbClr>
          </a:solidFill>
          <a:ln w="19050">
            <a:solidFill>
              <a:srgbClr val="FFC53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2700000" flipH="1">
            <a:off x="3951420" y="2971744"/>
            <a:ext cx="539894" cy="310164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621940" y="963275"/>
            <a:ext cx="4259020" cy="1739254"/>
          </a:xfrm>
          <a:custGeom>
            <a:avLst/>
            <a:gdLst/>
            <a:ahLst/>
            <a:cxnLst/>
            <a:rect l="l" t="t" r="r" b="b"/>
            <a:pathLst>
              <a:path w="4259020" h="1739254">
                <a:moveTo>
                  <a:pt x="191848" y="0"/>
                </a:moveTo>
                <a:moveTo>
                  <a:pt x="191848" y="0"/>
                </a:moveTo>
                <a:lnTo>
                  <a:pt x="4067172" y="0"/>
                </a:lnTo>
                <a:quadBezTo>
                  <a:pt x="4259020" y="0"/>
                  <a:pt x="4259020" y="217407"/>
                </a:quadBezTo>
                <a:lnTo>
                  <a:pt x="4259020" y="1521847"/>
                </a:lnTo>
                <a:quadBezTo>
                  <a:pt x="4259020" y="1739254"/>
                  <a:pt x="4067172" y="1739254"/>
                </a:quadBezTo>
                <a:lnTo>
                  <a:pt x="191848" y="1739254"/>
                </a:lnTo>
                <a:quadBezTo>
                  <a:pt x="0" y="1739254"/>
                  <a:pt x="0" y="1521847"/>
                </a:quadBezTo>
                <a:lnTo>
                  <a:pt x="0" y="217407"/>
                </a:lnTo>
                <a:quadBezTo>
                  <a:pt x="0" y="0"/>
                  <a:pt x="191848" y="0"/>
                </a:quadBezTo>
                <a:close/>
              </a:path>
            </a:pathLst>
          </a:custGeom>
          <a:solidFill>
            <a:srgbClr val="FE872E">
              <a:alpha val="0"/>
            </a:srgbClr>
          </a:solidFill>
          <a:ln w="19050">
            <a:solidFill>
              <a:srgbClr val="FFC53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2700000">
            <a:off x="4652534" y="2256917"/>
            <a:ext cx="539894" cy="310164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4621940" y="2826410"/>
            <a:ext cx="4259275" cy="1739189"/>
          </a:xfrm>
          <a:custGeom>
            <a:avLst/>
            <a:gdLst/>
            <a:ahLst/>
            <a:cxnLst/>
            <a:rect l="l" t="t" r="r" b="b"/>
            <a:pathLst>
              <a:path w="4259275" h="1739189">
                <a:moveTo>
                  <a:pt x="217399" y="0"/>
                </a:moveTo>
                <a:moveTo>
                  <a:pt x="217399" y="0"/>
                </a:moveTo>
                <a:lnTo>
                  <a:pt x="4041877" y="0"/>
                </a:lnTo>
                <a:quadBezTo>
                  <a:pt x="4259275" y="0"/>
                  <a:pt x="4259275" y="217399"/>
                </a:quadBezTo>
                <a:lnTo>
                  <a:pt x="4259275" y="1521790"/>
                </a:lnTo>
                <a:quadBezTo>
                  <a:pt x="4259275" y="1739189"/>
                  <a:pt x="4041877" y="1739189"/>
                </a:quadBezTo>
                <a:lnTo>
                  <a:pt x="217399" y="1739189"/>
                </a:lnTo>
                <a:quadBezTo>
                  <a:pt x="0" y="1739189"/>
                  <a:pt x="0" y="1521790"/>
                </a:quadBezTo>
                <a:lnTo>
                  <a:pt x="0" y="217399"/>
                </a:lnTo>
                <a:quadBezTo>
                  <a:pt x="0" y="0"/>
                  <a:pt x="217399" y="0"/>
                </a:quadBezTo>
                <a:close/>
              </a:path>
            </a:pathLst>
          </a:custGeom>
          <a:solidFill>
            <a:srgbClr val="FE872E">
              <a:alpha val="0"/>
            </a:srgbClr>
          </a:solidFill>
          <a:ln w="19050">
            <a:solidFill>
              <a:srgbClr val="FE872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-8100000" flipH="1">
            <a:off x="4652534" y="2971744"/>
            <a:ext cx="539894" cy="31016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25840" y="1240899"/>
            <a:ext cx="3818028" cy="3931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FE8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功能打磨</a:t>
            </a:r>
            <a:endParaRPr lang="en-US" sz="1440" dirty="0"/>
          </a:p>
        </p:txBody>
      </p:sp>
      <p:sp>
        <p:nvSpPr>
          <p:cNvPr id="12" name="Text 6"/>
          <p:cNvSpPr/>
          <p:nvPr/>
        </p:nvSpPr>
        <p:spPr>
          <a:xfrm>
            <a:off x="525646" y="1550335"/>
            <a:ext cx="3475828" cy="1103957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31429"/>
              </a:lnSpc>
              <a:spcBef>
                <a:spcPts val="360"/>
              </a:spcBef>
              <a:buNone/>
            </a:pPr>
            <a:r>
              <a:rPr lang="en-US" sz="1100" dirty="0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 </a:t>
            </a:r>
            <a:r>
              <a:rPr lang="en-US" sz="1100" dirty="0" err="1">
                <a:solidFill>
                  <a:srgbClr val="FF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继续优化记录录入效率、提醒交互、空状态引导与视觉细节</a:t>
            </a:r>
            <a:r>
              <a:rPr lang="en-US" sz="1100" dirty="0" err="1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，形成更适合比赛演示的完整使用流程</a:t>
            </a:r>
            <a:r>
              <a:rPr lang="en-US" sz="1100" dirty="0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</a:p>
          <a:p>
            <a:pPr marL="0" indent="0">
              <a:lnSpc>
                <a:spcPct val="131429"/>
              </a:lnSpc>
              <a:spcBef>
                <a:spcPts val="360"/>
              </a:spcBef>
              <a:buNone/>
            </a:pPr>
            <a:r>
              <a:rPr lang="en-US" sz="1100" dirty="0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 </a:t>
            </a:r>
            <a:r>
              <a:rPr lang="en-US" sz="1100" dirty="0" err="1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</a:t>
            </a:r>
            <a:r>
              <a:rPr lang="en-US" sz="1100" dirty="0" err="1">
                <a:solidFill>
                  <a:srgbClr val="FF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改进用户界面和提升操作流畅度</a:t>
            </a:r>
            <a:r>
              <a:rPr lang="en-US" sz="1100" dirty="0" err="1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，确保应用在功能性和实用性方面达到最佳表现</a:t>
            </a:r>
            <a:r>
              <a:rPr lang="en-US" sz="1100" dirty="0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00" dirty="0"/>
          </a:p>
        </p:txBody>
      </p:sp>
      <p:sp>
        <p:nvSpPr>
          <p:cNvPr id="13" name="Text 7"/>
          <p:cNvSpPr/>
          <p:nvPr/>
        </p:nvSpPr>
        <p:spPr>
          <a:xfrm>
            <a:off x="525840" y="3090672"/>
            <a:ext cx="3475634" cy="3931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FE8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能力增强</a:t>
            </a:r>
            <a:endParaRPr lang="en-US" sz="1440" dirty="0"/>
          </a:p>
        </p:txBody>
      </p:sp>
      <p:sp>
        <p:nvSpPr>
          <p:cNvPr id="14" name="Text 8"/>
          <p:cNvSpPr/>
          <p:nvPr/>
        </p:nvSpPr>
        <p:spPr>
          <a:xfrm>
            <a:off x="485516" y="3415175"/>
            <a:ext cx="3475634" cy="1103957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31429"/>
              </a:lnSpc>
              <a:spcBef>
                <a:spcPts val="360"/>
              </a:spcBef>
              <a:buNone/>
            </a:pPr>
            <a:r>
              <a:rPr lang="en-US" sz="1100" dirty="0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 </a:t>
            </a:r>
            <a:r>
              <a:rPr lang="en-US" sz="1100" dirty="0" err="1">
                <a:solidFill>
                  <a:srgbClr val="FF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完善AI总览质量、补充多宠对比、加强数据分析维度</a:t>
            </a:r>
            <a:r>
              <a:rPr lang="en-US" sz="1100" dirty="0" err="1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，形成更具辨识度的智能照护能力</a:t>
            </a:r>
            <a:r>
              <a:rPr lang="en-US" sz="1100" dirty="0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</a:p>
          <a:p>
            <a:pPr marL="0" indent="0">
              <a:lnSpc>
                <a:spcPct val="131429"/>
              </a:lnSpc>
              <a:spcBef>
                <a:spcPts val="360"/>
              </a:spcBef>
              <a:buNone/>
            </a:pPr>
            <a:r>
              <a:rPr lang="en-US" sz="1100" dirty="0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  </a:t>
            </a:r>
            <a:r>
              <a:rPr lang="en-US" sz="1100" dirty="0" err="1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</a:t>
            </a:r>
            <a:r>
              <a:rPr lang="en-US" sz="1100" dirty="0" err="1">
                <a:solidFill>
                  <a:srgbClr val="FF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提升AI模块的分析能力和数据处理精度</a:t>
            </a:r>
            <a:r>
              <a:rPr lang="en-US" sz="1100" dirty="0" err="1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，为用户提供更加全面和精准的照护建议</a:t>
            </a:r>
            <a:r>
              <a:rPr lang="en-US" sz="1100" dirty="0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00" dirty="0"/>
          </a:p>
        </p:txBody>
      </p:sp>
      <p:sp>
        <p:nvSpPr>
          <p:cNvPr id="15" name="Text 9"/>
          <p:cNvSpPr/>
          <p:nvPr/>
        </p:nvSpPr>
        <p:spPr>
          <a:xfrm>
            <a:off x="5195621" y="1240841"/>
            <a:ext cx="3475634" cy="3931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FE8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平台深化</a:t>
            </a:r>
            <a:endParaRPr lang="en-US" sz="1440" dirty="0"/>
          </a:p>
        </p:txBody>
      </p:sp>
      <p:sp>
        <p:nvSpPr>
          <p:cNvPr id="16" name="Text 10"/>
          <p:cNvSpPr/>
          <p:nvPr/>
        </p:nvSpPr>
        <p:spPr>
          <a:xfrm>
            <a:off x="5195621" y="1580884"/>
            <a:ext cx="3475634" cy="1103957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31429"/>
              </a:lnSpc>
              <a:spcBef>
                <a:spcPts val="360"/>
              </a:spcBef>
              <a:buNone/>
            </a:pPr>
            <a:r>
              <a:rPr lang="en-US" sz="1100" dirty="0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 </a:t>
            </a:r>
            <a:r>
              <a:rPr lang="en-US" sz="1100" dirty="0" err="1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补充Harmony服务卡片、桌面入口、更多系统能力联动，</a:t>
            </a:r>
            <a:r>
              <a:rPr lang="en-US" sz="1100" dirty="0" err="1">
                <a:solidFill>
                  <a:srgbClr val="FF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增强Harmony生态特色和使用频率</a:t>
            </a:r>
            <a:r>
              <a:rPr lang="en-US" sz="1100" dirty="0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</a:p>
          <a:p>
            <a:pPr marL="0" indent="0">
              <a:lnSpc>
                <a:spcPct val="131429"/>
              </a:lnSpc>
              <a:spcBef>
                <a:spcPts val="360"/>
              </a:spcBef>
              <a:buNone/>
            </a:pPr>
            <a:r>
              <a:rPr lang="en-US" sz="1100" dirty="0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 </a:t>
            </a:r>
            <a:r>
              <a:rPr lang="en-US" sz="1100" dirty="0" err="1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通过与HarmonyOS平台更深度的集成和联动，提高应用的便捷性和用户粘性</a:t>
            </a:r>
            <a:r>
              <a:rPr lang="en-US" sz="1100" dirty="0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00" dirty="0"/>
          </a:p>
        </p:txBody>
      </p:sp>
      <p:sp>
        <p:nvSpPr>
          <p:cNvPr id="17" name="Text 11"/>
          <p:cNvSpPr/>
          <p:nvPr/>
        </p:nvSpPr>
        <p:spPr>
          <a:xfrm>
            <a:off x="5195621" y="3090672"/>
            <a:ext cx="3475634" cy="3931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FE8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产品落地</a:t>
            </a:r>
            <a:endParaRPr lang="en-US" sz="1440" dirty="0"/>
          </a:p>
        </p:txBody>
      </p:sp>
      <p:sp>
        <p:nvSpPr>
          <p:cNvPr id="18" name="Text 12"/>
          <p:cNvSpPr/>
          <p:nvPr/>
        </p:nvSpPr>
        <p:spPr>
          <a:xfrm>
            <a:off x="5195621" y="3412236"/>
            <a:ext cx="3563750" cy="1103957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31429"/>
              </a:lnSpc>
              <a:spcBef>
                <a:spcPts val="360"/>
              </a:spcBef>
              <a:buNone/>
            </a:pPr>
            <a:r>
              <a:rPr lang="en-US" sz="1100" dirty="0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 </a:t>
            </a:r>
            <a:r>
              <a:rPr lang="en-US" sz="1100" dirty="0" err="1">
                <a:solidFill>
                  <a:srgbClr val="FF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探索账号体系、跨设备同步、机构版记录视图与商业化路径</a:t>
            </a:r>
            <a:r>
              <a:rPr lang="en-US" sz="1100" dirty="0" err="1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，形成面向真实用户运营的产品雏形</a:t>
            </a:r>
            <a:r>
              <a:rPr lang="en-US" sz="1100" dirty="0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</a:p>
          <a:p>
            <a:pPr marL="0" indent="0">
              <a:lnSpc>
                <a:spcPct val="131429"/>
              </a:lnSpc>
              <a:spcBef>
                <a:spcPts val="360"/>
              </a:spcBef>
              <a:buNone/>
            </a:pPr>
            <a:r>
              <a:rPr lang="en-US" sz="1100" dirty="0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 </a:t>
            </a:r>
            <a:r>
              <a:rPr lang="en-US" sz="1100" dirty="0" err="1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</a:t>
            </a:r>
            <a:r>
              <a:rPr lang="en-US" sz="1100" dirty="0" err="1">
                <a:solidFill>
                  <a:srgbClr val="FF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开发多种应用场景和商业模式</a:t>
            </a:r>
            <a:r>
              <a:rPr lang="en-US" sz="1100" dirty="0" err="1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，将宠记打造为一款可持续发展的宠物健康管理应用</a:t>
            </a:r>
            <a:r>
              <a:rPr lang="en-US" sz="1100" dirty="0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00" dirty="0"/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EAF68090-9DFE-D9C0-2136-89E3C52C4001}"/>
              </a:ext>
            </a:extLst>
          </p:cNvPr>
          <p:cNvGrpSpPr/>
          <p:nvPr/>
        </p:nvGrpSpPr>
        <p:grpSpPr>
          <a:xfrm>
            <a:off x="8176160" y="1038"/>
            <a:ext cx="967840" cy="450056"/>
            <a:chOff x="121444" y="118306"/>
            <a:chExt cx="967840" cy="450056"/>
          </a:xfrm>
        </p:grpSpPr>
        <p:pic>
          <p:nvPicPr>
            <p:cNvPr id="20" name="图片 19">
              <a:extLst>
                <a:ext uri="{FF2B5EF4-FFF2-40B4-BE49-F238E27FC236}">
                  <a16:creationId xmlns:a16="http://schemas.microsoft.com/office/drawing/2014/main" id="{47E4E0E1-2109-A177-E986-6A17BB82374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21444" y="118306"/>
              <a:ext cx="450056" cy="450056"/>
            </a:xfrm>
            <a:prstGeom prst="rect">
              <a:avLst/>
            </a:prstGeom>
          </p:spPr>
        </p:pic>
        <p:pic>
          <p:nvPicPr>
            <p:cNvPr id="21" name="图片 20">
              <a:extLst>
                <a:ext uri="{FF2B5EF4-FFF2-40B4-BE49-F238E27FC236}">
                  <a16:creationId xmlns:a16="http://schemas.microsoft.com/office/drawing/2014/main" id="{E3668D71-E04F-0302-693D-CB4BB5823A1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39228" y="136560"/>
              <a:ext cx="450056" cy="43180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1354" y="195247"/>
            <a:ext cx="7859123" cy="56692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016" b="1" dirty="0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潜在风险与应对</a:t>
            </a:r>
            <a:endParaRPr lang="en-US" sz="1440" dirty="0"/>
          </a:p>
        </p:txBody>
      </p:sp>
      <p:sp>
        <p:nvSpPr>
          <p:cNvPr id="3" name="Shape 1"/>
          <p:cNvSpPr/>
          <p:nvPr/>
        </p:nvSpPr>
        <p:spPr>
          <a:xfrm>
            <a:off x="284378" y="2935224"/>
            <a:ext cx="2851099" cy="548640"/>
          </a:xfrm>
          <a:custGeom>
            <a:avLst/>
            <a:gdLst/>
            <a:ahLst/>
            <a:cxnLst/>
            <a:rect l="l" t="t" r="r" b="b"/>
            <a:pathLst>
              <a:path w="2851099" h="548640">
                <a:moveTo>
                  <a:pt x="140113" y="0"/>
                </a:moveTo>
                <a:moveTo>
                  <a:pt x="140113" y="0"/>
                </a:moveTo>
                <a:lnTo>
                  <a:pt x="2710987" y="0"/>
                </a:lnTo>
                <a:quadBezTo>
                  <a:pt x="2851099" y="0"/>
                  <a:pt x="2851099" y="140113"/>
                </a:quadBezTo>
                <a:lnTo>
                  <a:pt x="2851099" y="408527"/>
                </a:lnTo>
                <a:quadBezTo>
                  <a:pt x="2851099" y="548640"/>
                  <a:pt x="2710987" y="548640"/>
                </a:quadBezTo>
                <a:lnTo>
                  <a:pt x="140113" y="548640"/>
                </a:lnTo>
                <a:quadBezTo>
                  <a:pt x="0" y="548640"/>
                  <a:pt x="0" y="408527"/>
                </a:quadBezTo>
                <a:lnTo>
                  <a:pt x="0" y="140113"/>
                </a:lnTo>
                <a:quadBezTo>
                  <a:pt x="0" y="0"/>
                  <a:pt x="140113" y="0"/>
                </a:quadBezTo>
                <a:close/>
              </a:path>
            </a:pathLst>
          </a:custGeom>
          <a:solidFill>
            <a:srgbClr val="FE87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3339389" y="2935311"/>
            <a:ext cx="2851099" cy="548640"/>
          </a:xfrm>
          <a:custGeom>
            <a:avLst/>
            <a:gdLst/>
            <a:ahLst/>
            <a:cxnLst/>
            <a:rect l="l" t="t" r="r" b="b"/>
            <a:pathLst>
              <a:path w="2851099" h="548640">
                <a:moveTo>
                  <a:pt x="140113" y="0"/>
                </a:moveTo>
                <a:moveTo>
                  <a:pt x="140113" y="0"/>
                </a:moveTo>
                <a:lnTo>
                  <a:pt x="2710987" y="0"/>
                </a:lnTo>
                <a:quadBezTo>
                  <a:pt x="2851099" y="0"/>
                  <a:pt x="2851099" y="140113"/>
                </a:quadBezTo>
                <a:lnTo>
                  <a:pt x="2851099" y="408527"/>
                </a:lnTo>
                <a:quadBezTo>
                  <a:pt x="2851099" y="548640"/>
                  <a:pt x="2710987" y="548640"/>
                </a:quadBezTo>
                <a:lnTo>
                  <a:pt x="140113" y="548640"/>
                </a:lnTo>
                <a:quadBezTo>
                  <a:pt x="0" y="548640"/>
                  <a:pt x="0" y="408527"/>
                </a:quadBezTo>
                <a:lnTo>
                  <a:pt x="0" y="140113"/>
                </a:lnTo>
                <a:quadBezTo>
                  <a:pt x="0" y="0"/>
                  <a:pt x="140113" y="0"/>
                </a:quadBezTo>
                <a:close/>
              </a:path>
            </a:pathLst>
          </a:custGeom>
          <a:solidFill>
            <a:srgbClr val="FE87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284378" y="994431"/>
            <a:ext cx="2851099" cy="548640"/>
          </a:xfrm>
          <a:custGeom>
            <a:avLst/>
            <a:gdLst/>
            <a:ahLst/>
            <a:cxnLst/>
            <a:rect l="l" t="t" r="r" b="b"/>
            <a:pathLst>
              <a:path w="2851099" h="548640">
                <a:moveTo>
                  <a:pt x="140113" y="0"/>
                </a:moveTo>
                <a:moveTo>
                  <a:pt x="140113" y="0"/>
                </a:moveTo>
                <a:lnTo>
                  <a:pt x="2710987" y="0"/>
                </a:lnTo>
                <a:quadBezTo>
                  <a:pt x="2851099" y="0"/>
                  <a:pt x="2851099" y="140113"/>
                </a:quadBezTo>
                <a:lnTo>
                  <a:pt x="2851099" y="408527"/>
                </a:lnTo>
                <a:quadBezTo>
                  <a:pt x="2851099" y="548640"/>
                  <a:pt x="2710987" y="548640"/>
                </a:quadBezTo>
                <a:lnTo>
                  <a:pt x="140113" y="548640"/>
                </a:lnTo>
                <a:quadBezTo>
                  <a:pt x="0" y="548640"/>
                  <a:pt x="0" y="408527"/>
                </a:quadBezTo>
                <a:lnTo>
                  <a:pt x="0" y="140113"/>
                </a:lnTo>
                <a:quadBezTo>
                  <a:pt x="0" y="0"/>
                  <a:pt x="140113" y="0"/>
                </a:quadBezTo>
                <a:close/>
              </a:path>
            </a:pathLst>
          </a:custGeom>
          <a:solidFill>
            <a:srgbClr val="FE87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3339389" y="994867"/>
            <a:ext cx="2851099" cy="548640"/>
          </a:xfrm>
          <a:custGeom>
            <a:avLst/>
            <a:gdLst/>
            <a:ahLst/>
            <a:cxnLst/>
            <a:rect l="l" t="t" r="r" b="b"/>
            <a:pathLst>
              <a:path w="2851099" h="548640">
                <a:moveTo>
                  <a:pt x="140113" y="0"/>
                </a:moveTo>
                <a:moveTo>
                  <a:pt x="140113" y="0"/>
                </a:moveTo>
                <a:lnTo>
                  <a:pt x="2710987" y="0"/>
                </a:lnTo>
                <a:quadBezTo>
                  <a:pt x="2851099" y="0"/>
                  <a:pt x="2851099" y="140113"/>
                </a:quadBezTo>
                <a:lnTo>
                  <a:pt x="2851099" y="408527"/>
                </a:lnTo>
                <a:quadBezTo>
                  <a:pt x="2851099" y="548640"/>
                  <a:pt x="2710987" y="548640"/>
                </a:quadBezTo>
                <a:lnTo>
                  <a:pt x="140113" y="548640"/>
                </a:lnTo>
                <a:quadBezTo>
                  <a:pt x="0" y="548640"/>
                  <a:pt x="0" y="408527"/>
                </a:quadBezTo>
                <a:lnTo>
                  <a:pt x="0" y="140113"/>
                </a:lnTo>
                <a:quadBezTo>
                  <a:pt x="0" y="0"/>
                  <a:pt x="140113" y="0"/>
                </a:quadBezTo>
                <a:close/>
              </a:path>
            </a:pathLst>
          </a:custGeom>
          <a:solidFill>
            <a:srgbClr val="FE87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417544" y="1024108"/>
            <a:ext cx="2714200" cy="48928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>
              <a:lnSpc>
                <a:spcPct val="102222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能力依赖外部接口</a:t>
            </a:r>
            <a:endParaRPr lang="en-US" sz="1440" dirty="0"/>
          </a:p>
        </p:txBody>
      </p:sp>
      <p:pic>
        <p:nvPicPr>
          <p:cNvPr id="8" name="Image 0" descr="https://bjcdn.openstorage.cn/zhiwen/prod/177692588311613/2026-04-23/9cfa7fd5-c52d-49df-b3aa-3f4bb9c3df09/image_waf80y1776927397915.jpg"/>
          <p:cNvPicPr>
            <a:picLocks noChangeAspect="1"/>
          </p:cNvPicPr>
          <p:nvPr/>
        </p:nvPicPr>
        <p:blipFill>
          <a:blip r:embed="rId4"/>
          <a:srcRect l="33130" r="33130"/>
          <a:stretch/>
        </p:blipFill>
        <p:spPr>
          <a:xfrm>
            <a:off x="6475473" y="892194"/>
            <a:ext cx="2119455" cy="353242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84637" y="1533044"/>
            <a:ext cx="2856196" cy="10526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31429"/>
              </a:lnSpc>
              <a:spcBef>
                <a:spcPts val="360"/>
              </a:spcBef>
              <a:buNone/>
            </a:pPr>
            <a:r>
              <a:rPr lang="en-US" sz="1100" dirty="0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模块依赖于外部接口，可能导致功能不稳定。为应对这一风险，</a:t>
            </a:r>
            <a:r>
              <a:rPr lang="en-US" sz="1100" dirty="0">
                <a:solidFill>
                  <a:srgbClr val="FF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需优化AI的超时控制、缓存策略和失败回退体验，</a:t>
            </a:r>
            <a:r>
              <a:rPr lang="en-US" sz="1100" dirty="0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确保系统稳定运行。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482070" y="1024108"/>
            <a:ext cx="2694461" cy="48928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>
              <a:lnSpc>
                <a:spcPct val="102222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提醒能力涉及系统权限</a:t>
            </a:r>
            <a:endParaRPr lang="en-US" sz="1440" dirty="0"/>
          </a:p>
        </p:txBody>
      </p:sp>
      <p:sp>
        <p:nvSpPr>
          <p:cNvPr id="11" name="Text 8"/>
          <p:cNvSpPr/>
          <p:nvPr/>
        </p:nvSpPr>
        <p:spPr>
          <a:xfrm>
            <a:off x="3338939" y="1533044"/>
            <a:ext cx="2820252" cy="10526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31429"/>
              </a:lnSpc>
              <a:spcBef>
                <a:spcPts val="360"/>
              </a:spcBef>
              <a:buNone/>
            </a:pPr>
            <a:r>
              <a:rPr lang="en-US" sz="1100" dirty="0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提醒能力需要调用系统权限，存在被限制的风险。</a:t>
            </a:r>
            <a:r>
              <a:rPr lang="en-US" sz="1100" dirty="0">
                <a:solidFill>
                  <a:srgbClr val="FF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通过持续进行真机验证和兜底测试</a:t>
            </a:r>
            <a:r>
              <a:rPr lang="en-US" sz="1100" dirty="0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，确保提醒机制在不同设备和操作系统中均能正常运行。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17544" y="2964989"/>
            <a:ext cx="2714200" cy="48928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>
              <a:lnSpc>
                <a:spcPct val="102222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数据迁移功能待完善</a:t>
            </a:r>
            <a:endParaRPr lang="en-US" sz="1440" dirty="0"/>
          </a:p>
        </p:txBody>
      </p:sp>
      <p:sp>
        <p:nvSpPr>
          <p:cNvPr id="13" name="Text 10"/>
          <p:cNvSpPr/>
          <p:nvPr/>
        </p:nvSpPr>
        <p:spPr>
          <a:xfrm>
            <a:off x="284637" y="3513629"/>
            <a:ext cx="2856196" cy="10526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31429"/>
              </a:lnSpc>
              <a:spcBef>
                <a:spcPts val="360"/>
              </a:spcBef>
              <a:buNone/>
            </a:pPr>
            <a:r>
              <a:rPr lang="en-US" sz="1100" dirty="0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数据迁移功能在后续版本中</a:t>
            </a:r>
            <a:r>
              <a:rPr lang="en-US" sz="1100" dirty="0">
                <a:solidFill>
                  <a:srgbClr val="FF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需要进一步完善导入提示、格式兼容和异常恢复说明</a:t>
            </a:r>
            <a:r>
              <a:rPr lang="en-US" sz="1100" dirty="0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。这可提高用户迁移数据的易用性和成功率，减少数据丢失风险。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482070" y="2964989"/>
            <a:ext cx="2694461" cy="48928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>
              <a:lnSpc>
                <a:spcPct val="102222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隐私与合规风险</a:t>
            </a:r>
            <a:endParaRPr lang="en-US" sz="1440" dirty="0"/>
          </a:p>
        </p:txBody>
      </p:sp>
      <p:sp>
        <p:nvSpPr>
          <p:cNvPr id="15" name="Text 12"/>
          <p:cNvSpPr/>
          <p:nvPr/>
        </p:nvSpPr>
        <p:spPr>
          <a:xfrm>
            <a:off x="3338939" y="3474012"/>
            <a:ext cx="2820252" cy="10526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31429"/>
              </a:lnSpc>
              <a:spcBef>
                <a:spcPts val="360"/>
              </a:spcBef>
              <a:buNone/>
            </a:pPr>
            <a:r>
              <a:rPr lang="en-US" sz="1100" dirty="0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若项目推进为正式产品，</a:t>
            </a:r>
            <a:r>
              <a:rPr lang="en-US" sz="1100" dirty="0">
                <a:solidFill>
                  <a:srgbClr val="FF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需补充隐私政策、权限说明、应用市场发布材料等内容</a:t>
            </a:r>
            <a:r>
              <a:rPr lang="en-US" sz="1100" dirty="0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。确保项目符合相关法规要求，避免法律合规风险。</a:t>
            </a:r>
            <a:endParaRPr lang="en-US" sz="1100" dirty="0"/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987E8911-6D2A-DE32-B6D6-2DBA88555499}"/>
              </a:ext>
            </a:extLst>
          </p:cNvPr>
          <p:cNvGrpSpPr/>
          <p:nvPr/>
        </p:nvGrpSpPr>
        <p:grpSpPr>
          <a:xfrm>
            <a:off x="8176160" y="1038"/>
            <a:ext cx="967840" cy="450056"/>
            <a:chOff x="121444" y="118306"/>
            <a:chExt cx="967840" cy="450056"/>
          </a:xfrm>
        </p:grpSpPr>
        <p:pic>
          <p:nvPicPr>
            <p:cNvPr id="17" name="图片 16">
              <a:extLst>
                <a:ext uri="{FF2B5EF4-FFF2-40B4-BE49-F238E27FC236}">
                  <a16:creationId xmlns:a16="http://schemas.microsoft.com/office/drawing/2014/main" id="{C4305696-606F-2614-748B-F813E6E5C0A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21444" y="118306"/>
              <a:ext cx="450056" cy="450056"/>
            </a:xfrm>
            <a:prstGeom prst="rect">
              <a:avLst/>
            </a:prstGeom>
          </p:spPr>
        </p:pic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361CEA6B-0B77-8AC7-C8A8-2C5F19323E0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39228" y="136560"/>
              <a:ext cx="450056" cy="43180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1354" y="195247"/>
            <a:ext cx="7859123" cy="56692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016" b="1" dirty="0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项目总结与展望</a:t>
            </a:r>
            <a:endParaRPr lang="en-US" sz="1440" dirty="0"/>
          </a:p>
        </p:txBody>
      </p:sp>
      <p:sp>
        <p:nvSpPr>
          <p:cNvPr id="3" name="Shape 1"/>
          <p:cNvSpPr/>
          <p:nvPr/>
        </p:nvSpPr>
        <p:spPr>
          <a:xfrm>
            <a:off x="785315" y="1217147"/>
            <a:ext cx="3716275" cy="3066697"/>
          </a:xfrm>
          <a:custGeom>
            <a:avLst/>
            <a:gdLst/>
            <a:ahLst/>
            <a:cxnLst/>
            <a:rect l="l" t="t" r="r" b="b"/>
            <a:pathLst>
              <a:path w="3716275" h="3066697">
                <a:moveTo>
                  <a:pt x="345147" y="0"/>
                </a:moveTo>
                <a:moveTo>
                  <a:pt x="345147" y="0"/>
                </a:moveTo>
                <a:lnTo>
                  <a:pt x="3371127" y="0"/>
                </a:lnTo>
                <a:quadBezTo>
                  <a:pt x="3716275" y="0"/>
                  <a:pt x="3716275" y="383337"/>
                </a:quadBezTo>
                <a:lnTo>
                  <a:pt x="3716275" y="2683360"/>
                </a:lnTo>
                <a:quadBezTo>
                  <a:pt x="3716275" y="3066697"/>
                  <a:pt x="3371127" y="3066697"/>
                </a:quadBezTo>
                <a:lnTo>
                  <a:pt x="345147" y="3066697"/>
                </a:lnTo>
                <a:quadBezTo>
                  <a:pt x="0" y="3066697"/>
                  <a:pt x="0" y="2683360"/>
                </a:quadBezTo>
                <a:lnTo>
                  <a:pt x="0" y="383337"/>
                </a:lnTo>
                <a:quadBezTo>
                  <a:pt x="0" y="0"/>
                  <a:pt x="345147" y="0"/>
                </a:quadBezTo>
                <a:close/>
              </a:path>
            </a:pathLst>
          </a:custGeom>
          <a:solidFill>
            <a:srgbClr val="FE872E">
              <a:alpha val="0"/>
            </a:srgbClr>
          </a:solidFill>
          <a:ln w="19050">
            <a:solidFill>
              <a:srgbClr val="FE872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5682" y="2297358"/>
            <a:ext cx="573178" cy="57317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25730" y="3799610"/>
            <a:ext cx="2884598" cy="254041"/>
          </a:xfrm>
          <a:custGeom>
            <a:avLst/>
            <a:gdLst/>
            <a:ahLst/>
            <a:cxnLst/>
            <a:rect l="l" t="t" r="r" b="b"/>
            <a:pathLst>
              <a:path w="2884598" h="254041">
                <a:moveTo>
                  <a:pt x="0" y="0"/>
                </a:moveTo>
                <a:moveTo>
                  <a:pt x="0" y="0"/>
                </a:moveTo>
                <a:lnTo>
                  <a:pt x="2884598" y="0"/>
                </a:lnTo>
                <a:lnTo>
                  <a:pt x="2884598" y="254041"/>
                </a:lnTo>
                <a:lnTo>
                  <a:pt x="0" y="254041"/>
                </a:lnTo>
                <a:close/>
              </a:path>
            </a:pathLst>
          </a:custGeom>
          <a:solidFill>
            <a:srgbClr val="FE87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3"/>
          <p:cNvSpPr/>
          <p:nvPr/>
        </p:nvSpPr>
        <p:spPr>
          <a:xfrm>
            <a:off x="4761957" y="1217146"/>
            <a:ext cx="3716275" cy="3066697"/>
          </a:xfrm>
          <a:custGeom>
            <a:avLst/>
            <a:gdLst/>
            <a:ahLst/>
            <a:cxnLst/>
            <a:rect l="l" t="t" r="r" b="b"/>
            <a:pathLst>
              <a:path w="3716275" h="3066697">
                <a:moveTo>
                  <a:pt x="345147" y="0"/>
                </a:moveTo>
                <a:moveTo>
                  <a:pt x="345147" y="0"/>
                </a:moveTo>
                <a:lnTo>
                  <a:pt x="3371127" y="0"/>
                </a:lnTo>
                <a:quadBezTo>
                  <a:pt x="3716275" y="0"/>
                  <a:pt x="3716275" y="383337"/>
                </a:quadBezTo>
                <a:lnTo>
                  <a:pt x="3716275" y="2683360"/>
                </a:lnTo>
                <a:quadBezTo>
                  <a:pt x="3716275" y="3066697"/>
                  <a:pt x="3371127" y="3066697"/>
                </a:quadBezTo>
                <a:lnTo>
                  <a:pt x="345147" y="3066697"/>
                </a:lnTo>
                <a:quadBezTo>
                  <a:pt x="0" y="3066697"/>
                  <a:pt x="0" y="2683360"/>
                </a:quadBezTo>
                <a:lnTo>
                  <a:pt x="0" y="383337"/>
                </a:lnTo>
                <a:quadBezTo>
                  <a:pt x="0" y="0"/>
                  <a:pt x="345147" y="0"/>
                </a:quadBezTo>
                <a:close/>
              </a:path>
            </a:pathLst>
          </a:custGeom>
          <a:solidFill>
            <a:srgbClr val="FE872E">
              <a:alpha val="0"/>
            </a:srgbClr>
          </a:solidFill>
          <a:ln w="19050">
            <a:solidFill>
              <a:srgbClr val="FFC53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4"/>
          <p:cNvSpPr/>
          <p:nvPr/>
        </p:nvSpPr>
        <p:spPr>
          <a:xfrm>
            <a:off x="6033672" y="3799610"/>
            <a:ext cx="2884598" cy="254041"/>
          </a:xfrm>
          <a:custGeom>
            <a:avLst/>
            <a:gdLst/>
            <a:ahLst/>
            <a:cxnLst/>
            <a:rect l="l" t="t" r="r" b="b"/>
            <a:pathLst>
              <a:path w="2884598" h="254041">
                <a:moveTo>
                  <a:pt x="0" y="0"/>
                </a:moveTo>
                <a:moveTo>
                  <a:pt x="0" y="0"/>
                </a:moveTo>
                <a:lnTo>
                  <a:pt x="2884598" y="0"/>
                </a:lnTo>
                <a:lnTo>
                  <a:pt x="2884598" y="254041"/>
                </a:lnTo>
                <a:lnTo>
                  <a:pt x="0" y="254041"/>
                </a:lnTo>
                <a:close/>
              </a:path>
            </a:pathLst>
          </a:custGeom>
          <a:solidFill>
            <a:srgbClr val="FFC53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1864706" y="1733378"/>
            <a:ext cx="2472985" cy="42976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FE8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项目总结</a:t>
            </a:r>
            <a:endParaRPr lang="en-US" sz="1440" dirty="0"/>
          </a:p>
        </p:txBody>
      </p:sp>
      <p:sp>
        <p:nvSpPr>
          <p:cNvPr id="9" name="Text 6"/>
          <p:cNvSpPr/>
          <p:nvPr/>
        </p:nvSpPr>
        <p:spPr>
          <a:xfrm>
            <a:off x="1787636" y="2210202"/>
            <a:ext cx="2545177" cy="1550553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r">
              <a:lnSpc>
                <a:spcPct val="115000"/>
              </a:lnSpc>
              <a:spcBef>
                <a:spcPts val="360"/>
              </a:spcBef>
              <a:buNone/>
            </a:pPr>
            <a:r>
              <a:rPr lang="en-US" sz="1300" dirty="0">
                <a:solidFill>
                  <a:srgbClr val="FE8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宠记PetNote不仅是一款宠物健康管理应用，更是一个面向真实养宠场景的数字化照护工具。它通过宠物档案、健康记录、事项提醒、AI分析和数据安全管理，构建了一个完整的使用链路。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066676" y="1733378"/>
            <a:ext cx="2472985" cy="42976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FFC5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未来展望</a:t>
            </a:r>
            <a:endParaRPr lang="en-US" sz="1440" dirty="0"/>
          </a:p>
        </p:txBody>
      </p:sp>
      <p:sp>
        <p:nvSpPr>
          <p:cNvPr id="11" name="Text 8"/>
          <p:cNvSpPr/>
          <p:nvPr/>
        </p:nvSpPr>
        <p:spPr>
          <a:xfrm>
            <a:off x="5031417" y="2301459"/>
            <a:ext cx="2472985" cy="1090427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15000"/>
              </a:lnSpc>
              <a:spcBef>
                <a:spcPts val="360"/>
              </a:spcBef>
              <a:buNone/>
            </a:pPr>
            <a:r>
              <a:rPr lang="en-US" sz="1300" dirty="0">
                <a:solidFill>
                  <a:srgbClr val="FFC5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后续在智能化深度、系统级入口和多端协同方向继续推进后，项目有望形成更成熟、更具竞争力的宠物照护产品。</a:t>
            </a:r>
            <a:endParaRPr lang="en-US" sz="13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64769" y="2371274"/>
            <a:ext cx="499262" cy="499262"/>
          </a:xfrm>
          <a:prstGeom prst="rect">
            <a:avLst/>
          </a:prstGeom>
        </p:spPr>
      </p:pic>
      <p:grpSp>
        <p:nvGrpSpPr>
          <p:cNvPr id="13" name="组合 12">
            <a:extLst>
              <a:ext uri="{FF2B5EF4-FFF2-40B4-BE49-F238E27FC236}">
                <a16:creationId xmlns:a16="http://schemas.microsoft.com/office/drawing/2014/main" id="{5DD71DF1-08A8-6C6B-D7EF-2E47A1A3F40D}"/>
              </a:ext>
            </a:extLst>
          </p:cNvPr>
          <p:cNvGrpSpPr/>
          <p:nvPr/>
        </p:nvGrpSpPr>
        <p:grpSpPr>
          <a:xfrm>
            <a:off x="8176160" y="1038"/>
            <a:ext cx="967840" cy="450056"/>
            <a:chOff x="121444" y="118306"/>
            <a:chExt cx="967840" cy="450056"/>
          </a:xfrm>
        </p:grpSpPr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5D60C748-3A21-752B-B2E3-012C2AB7B26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21444" y="118306"/>
              <a:ext cx="450056" cy="450056"/>
            </a:xfrm>
            <a:prstGeom prst="rect">
              <a:avLst/>
            </a:prstGeom>
          </p:spPr>
        </p:pic>
        <p:pic>
          <p:nvPicPr>
            <p:cNvPr id="15" name="图片 14">
              <a:extLst>
                <a:ext uri="{FF2B5EF4-FFF2-40B4-BE49-F238E27FC236}">
                  <a16:creationId xmlns:a16="http://schemas.microsoft.com/office/drawing/2014/main" id="{34FDAE32-6D65-C01A-97A2-CBA8D86EAD5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39228" y="136560"/>
              <a:ext cx="450056" cy="43180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93249" y="1713911"/>
            <a:ext cx="4313208" cy="100584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ctr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4320" b="1" kern="0" spc="144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感谢观看！</a:t>
            </a:r>
            <a:endParaRPr lang="en-US" sz="1440" dirty="0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D97CB986-595C-286B-912A-52E010CE02A8}"/>
              </a:ext>
            </a:extLst>
          </p:cNvPr>
          <p:cNvGrpSpPr/>
          <p:nvPr/>
        </p:nvGrpSpPr>
        <p:grpSpPr>
          <a:xfrm>
            <a:off x="8176160" y="1038"/>
            <a:ext cx="967840" cy="450056"/>
            <a:chOff x="121444" y="118306"/>
            <a:chExt cx="967840" cy="450056"/>
          </a:xfrm>
        </p:grpSpPr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E993BDFC-0EF6-8CB8-8C2A-98F8B6568A2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1444" y="118306"/>
              <a:ext cx="450056" cy="450056"/>
            </a:xfrm>
            <a:prstGeom prst="rect">
              <a:avLst/>
            </a:prstGeom>
          </p:spPr>
        </p:pic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5ABA1387-DB11-6230-ACE4-9447CB7EECC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39228" y="136560"/>
              <a:ext cx="450056" cy="43180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411</TotalTime>
  <Words>1309</Words>
  <Application>Microsoft Office PowerPoint</Application>
  <PresentationFormat>全屏显示(16:9)</PresentationFormat>
  <Paragraphs>202</Paragraphs>
  <Slides>24</Slides>
  <Notes>24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28" baseType="lpstr">
      <vt:lpstr>Microsoft Yahei</vt:lpstr>
      <vt:lpstr>Microsoft Yahei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Cavan Robinson</cp:lastModifiedBy>
  <cp:revision>20</cp:revision>
  <dcterms:created xsi:type="dcterms:W3CDTF">2026-04-23T07:34:35Z</dcterms:created>
  <dcterms:modified xsi:type="dcterms:W3CDTF">2026-04-24T14:57:01Z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{"ContentPropagator":"001191340000711771143J00000","Label":"1","ReservedCode1":"1776929676654","ProduceID":"zhiwen-pptx-177692588311613","ReservedCode2":"1776929676654","PropagateID":"zhiwen-pptx-177692588311613","ContentProducer":"001191340000711771143J0</vt:lpwstr>
  </property>
</Properties>
</file>